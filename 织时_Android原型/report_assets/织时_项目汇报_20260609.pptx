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749808"/>
            <a:ext cx="5166360" cy="532180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78992"/>
            <a:ext cx="2103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4A3517"/>
                </a:solidFill>
                <a:latin typeface="Microsoft YaHei"/>
              </a:rPr>
              <a:t>织时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7A82C"/>
                </a:solidFill>
                <a:latin typeface="Consolas"/>
              </a:rPr>
              <a:t>TimeWeaver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57984"/>
            <a:ext cx="3840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A3517"/>
                </a:solidFill>
                <a:latin typeface="Microsoft YaHei"/>
              </a:rPr>
              <a:t>项目阶段汇报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4206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05B33"/>
                </a:solidFill>
                <a:latin typeface="Microsoft YaHei"/>
              </a:rPr>
              <a:t>从设计思维流程到项目推进全过程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55264"/>
            <a:ext cx="4114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D7A82C"/>
                </a:solidFill>
                <a:latin typeface="Microsoft YaHei"/>
              </a:rPr>
              <a:t>将校园信息碎片整理成清晰时间线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785615"/>
            <a:ext cx="4370832" cy="1170432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0976" y="3803903"/>
            <a:ext cx="64008" cy="1133856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913631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4A3517"/>
                </a:solidFill>
                <a:latin typeface="Microsoft YaHei"/>
              </a:rPr>
              <a:t>本次汇报关注三件事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4224527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05B33"/>
                </a:solidFill>
                <a:latin typeface="Microsoft YaHei"/>
              </a:rPr>
              <a:t>• 我们为什么要做“信息降噪”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05B33"/>
                </a:solidFill>
                <a:latin typeface="Microsoft YaHei"/>
              </a:rPr>
              <a:t>• 设计如何转成可落地的交互结构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05B33"/>
                </a:solidFill>
                <a:latin typeface="Microsoft YaHei"/>
              </a:rPr>
              <a:t>• 工程如何把大模型能力约束为可信闭环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5650992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9A875E"/>
                </a:solidFill>
                <a:latin typeface="Microsoft YaHei"/>
              </a:rPr>
              <a:t>团队：________________</a:t>
            </a:r>
          </a:p>
        </p:txBody>
      </p:sp>
      <p:pic>
        <p:nvPicPr>
          <p:cNvPr id="16" name="Picture 15" descr="ic_launcher_foreground_ex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97280"/>
            <a:ext cx="3840480" cy="38404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01968" y="5084064"/>
            <a:ext cx="4663440" cy="84124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0255" y="5102351"/>
            <a:ext cx="64008" cy="804672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7416" y="5212079"/>
            <a:ext cx="44074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0" b="1">
                <a:solidFill>
                  <a:srgbClr val="4A3517"/>
                </a:solidFill>
                <a:latin typeface="Microsoft YaHei"/>
              </a:rPr>
              <a:t>汇报定位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5522975"/>
            <a:ext cx="440740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705B33"/>
                </a:solidFill>
                <a:latin typeface="Microsoft YaHei"/>
              </a:rPr>
              <a:t>这是一份“过程型项目汇报”，重点展示问题洞察、产品定义、架构设计、迭代修复与当前交付状态。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本次汇报围绕“问题—方案—落地—进展”四条线展开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不再把《织时》当作单点功能，而是把它作为一个逐步收口成型的产品系统来讲述。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4672" y="2157984"/>
            <a:ext cx="3273552" cy="141732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76272"/>
            <a:ext cx="64008" cy="138074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设计思维起点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96896"/>
            <a:ext cx="301752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705B33"/>
                </a:solidFill>
                <a:latin typeface="Microsoft YaHei"/>
              </a:rPr>
              <a:t>从校园信息焦虑、跨 App 录入成本和认知负担出发，明确真正要解决的问题。</a:t>
            </a:r>
          </a:p>
        </p:txBody>
      </p:sp>
      <p:sp>
        <p:nvSpPr>
          <p:cNvPr id="14" name="Oval 13"/>
          <p:cNvSpPr/>
          <p:nvPr/>
        </p:nvSpPr>
        <p:spPr>
          <a:xfrm>
            <a:off x="3493008" y="2286000"/>
            <a:ext cx="420624" cy="420624"/>
          </a:xfrm>
          <a:prstGeom prst="ellipse">
            <a:avLst/>
          </a:prstGeom>
          <a:solidFill>
            <a:srgbClr val="D7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313432"/>
            <a:ext cx="4206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2157984"/>
            <a:ext cx="3273552" cy="141732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1999" y="2176272"/>
            <a:ext cx="64008" cy="138074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22860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产品定义收敛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596896"/>
            <a:ext cx="301752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705B33"/>
                </a:solidFill>
                <a:latin typeface="Microsoft YaHei"/>
              </a:rPr>
              <a:t>把“能识别”推进为“能理解、能确认、能执行、能沉淀”的 Visual-to-Tool 智能体。</a:t>
            </a:r>
          </a:p>
        </p:txBody>
      </p:sp>
      <p:sp>
        <p:nvSpPr>
          <p:cNvPr id="20" name="Oval 19"/>
          <p:cNvSpPr/>
          <p:nvPr/>
        </p:nvSpPr>
        <p:spPr>
          <a:xfrm>
            <a:off x="7242048" y="2286000"/>
            <a:ext cx="420624" cy="420624"/>
          </a:xfrm>
          <a:prstGeom prst="ellipse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2313432"/>
            <a:ext cx="4206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2157984"/>
            <a:ext cx="3273552" cy="141732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2176272"/>
            <a:ext cx="64008" cy="138074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2860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设计原则与界面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596896"/>
            <a:ext cx="301752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705B33"/>
                </a:solidFill>
                <a:latin typeface="Microsoft YaHei"/>
              </a:rPr>
              <a:t>Today-First、信息降噪、Bento UI、人在回路，形成三页主结构和交互边界。</a:t>
            </a:r>
          </a:p>
        </p:txBody>
      </p:sp>
      <p:sp>
        <p:nvSpPr>
          <p:cNvPr id="26" name="Oval 25"/>
          <p:cNvSpPr/>
          <p:nvPr/>
        </p:nvSpPr>
        <p:spPr>
          <a:xfrm>
            <a:off x="10991088" y="2286000"/>
            <a:ext cx="420624" cy="420624"/>
          </a:xfrm>
          <a:prstGeom prst="ellipse">
            <a:avLst/>
          </a:prstGeom>
          <a:solidFill>
            <a:srgbClr val="D7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91088" y="2313432"/>
            <a:ext cx="4206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3986783"/>
            <a:ext cx="3273552" cy="141732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005071"/>
            <a:ext cx="64008" cy="138074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114799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工程架构与风控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425696"/>
            <a:ext cx="301752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705B33"/>
                </a:solidFill>
                <a:latin typeface="Microsoft YaHei"/>
              </a:rPr>
              <a:t>多模态输入、OCR+LLM、结构化 JSON、RiskPolicyEngine、系统 Intent 调度。</a:t>
            </a:r>
          </a:p>
        </p:txBody>
      </p:sp>
      <p:sp>
        <p:nvSpPr>
          <p:cNvPr id="32" name="Oval 31"/>
          <p:cNvSpPr/>
          <p:nvPr/>
        </p:nvSpPr>
        <p:spPr>
          <a:xfrm>
            <a:off x="3493008" y="4114799"/>
            <a:ext cx="420624" cy="420624"/>
          </a:xfrm>
          <a:prstGeom prst="ellipse">
            <a:avLst/>
          </a:prstGeom>
          <a:solidFill>
            <a:srgbClr val="D7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142231"/>
            <a:ext cx="4206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53712" y="3986783"/>
            <a:ext cx="3273552" cy="141732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1999" y="4005071"/>
            <a:ext cx="64008" cy="138074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59" y="4114799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项目推进与修复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59" y="4425696"/>
            <a:ext cx="301752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705B33"/>
                </a:solidFill>
                <a:latin typeface="Microsoft YaHei"/>
              </a:rPr>
              <a:t>从 API 接入、账号闭环到多事项识别、提醒语义和“我的页”分层持续迭代。</a:t>
            </a:r>
          </a:p>
        </p:txBody>
      </p:sp>
      <p:sp>
        <p:nvSpPr>
          <p:cNvPr id="38" name="Oval 37"/>
          <p:cNvSpPr/>
          <p:nvPr/>
        </p:nvSpPr>
        <p:spPr>
          <a:xfrm>
            <a:off x="7242048" y="4114799"/>
            <a:ext cx="420624" cy="420624"/>
          </a:xfrm>
          <a:prstGeom prst="ellipse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42048" y="4142231"/>
            <a:ext cx="4206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2752" y="3986783"/>
            <a:ext cx="3273552" cy="1417320"/>
          </a:xfrm>
          <a:prstGeom prst="roundRect">
            <a:avLst/>
          </a:prstGeom>
          <a:solidFill>
            <a:srgbClr val="EFF7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4005071"/>
            <a:ext cx="64008" cy="138074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4114799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当前成果与后续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425696"/>
            <a:ext cx="301752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705B33"/>
                </a:solidFill>
                <a:latin typeface="Microsoft YaHei"/>
              </a:rPr>
              <a:t>总结已经打通的主链路、仍需继续优化的边界，以及后续演示/实机推进方向。</a:t>
            </a:r>
          </a:p>
        </p:txBody>
      </p:sp>
      <p:sp>
        <p:nvSpPr>
          <p:cNvPr id="44" name="Oval 43"/>
          <p:cNvSpPr/>
          <p:nvPr/>
        </p:nvSpPr>
        <p:spPr>
          <a:xfrm>
            <a:off x="10991088" y="4114799"/>
            <a:ext cx="420624" cy="420624"/>
          </a:xfrm>
          <a:prstGeom prst="ellipse">
            <a:avLst/>
          </a:prstGeom>
          <a:solidFill>
            <a:srgbClr val="D7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91088" y="4142231"/>
            <a:ext cx="4206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DESIGN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设计思维让项目从“做功能”转向“解决真实场景里的混乱输入”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《织时》的形成不是先画页面，而是先把校园通知场景里的用户摩擦梳理清楚。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60120" y="3712463"/>
            <a:ext cx="10149840" cy="0"/>
          </a:xfrm>
          <a:prstGeom prst="line">
            <a:avLst/>
          </a:prstGeom>
          <a:ln w="1778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8" y="2331720"/>
            <a:ext cx="1847088" cy="2176272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" y="2350008"/>
            <a:ext cx="64008" cy="2139696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459736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共情</a:t>
            </a:r>
          </a:p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Empathize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770632"/>
            <a:ext cx="1591056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观察群通知、讲座海报、截图和口头提醒。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发现用户最痛苦的是“知道有事，但没法立刻转成安排”。</a:t>
            </a:r>
          </a:p>
        </p:txBody>
      </p:sp>
      <p:sp>
        <p:nvSpPr>
          <p:cNvPr id="15" name="Oval 14"/>
          <p:cNvSpPr/>
          <p:nvPr/>
        </p:nvSpPr>
        <p:spPr>
          <a:xfrm>
            <a:off x="1499616" y="3611880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81912" y="3694176"/>
            <a:ext cx="146304" cy="146304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17520" y="2331720"/>
            <a:ext cx="1847088" cy="2176272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35808" y="2350008"/>
            <a:ext cx="64008" cy="2139696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2968" y="2459736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定义</a:t>
            </a:r>
          </a:p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8" y="2770632"/>
            <a:ext cx="1591056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问题不只是“识别文本”。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真正的断层发生在：碎片信息无法稳定变成时间动作。</a:t>
            </a:r>
          </a:p>
        </p:txBody>
      </p:sp>
      <p:sp>
        <p:nvSpPr>
          <p:cNvPr id="21" name="Oval 20"/>
          <p:cNvSpPr/>
          <p:nvPr/>
        </p:nvSpPr>
        <p:spPr>
          <a:xfrm>
            <a:off x="3767328" y="3611880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74B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9624" y="3694176"/>
            <a:ext cx="146304" cy="146304"/>
          </a:xfrm>
          <a:prstGeom prst="ellipse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85232" y="2331720"/>
            <a:ext cx="1847088" cy="217627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0" y="2350008"/>
            <a:ext cx="64008" cy="2139696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459736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构思</a:t>
            </a:r>
          </a:p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Ideate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770632"/>
            <a:ext cx="1591056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提出 Visual-to-Tool。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让 AI 适应无序输入，而不是继续要求用户学表单规则。</a:t>
            </a:r>
          </a:p>
        </p:txBody>
      </p:sp>
      <p:sp>
        <p:nvSpPr>
          <p:cNvPr id="27" name="Oval 26"/>
          <p:cNvSpPr/>
          <p:nvPr/>
        </p:nvSpPr>
        <p:spPr>
          <a:xfrm>
            <a:off x="6035040" y="3611880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74B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17336" y="3694176"/>
            <a:ext cx="146304" cy="146304"/>
          </a:xfrm>
          <a:prstGeom prst="ellipse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52944" y="2331720"/>
            <a:ext cx="1847088" cy="2176272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71231" y="2350008"/>
            <a:ext cx="64008" cy="2139696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08392" y="2459736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原型</a:t>
            </a:r>
          </a:p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8392" y="2770632"/>
            <a:ext cx="1591056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用 Today-First、Bento UI、确认卡和三页主壳层，把理念落成一个可操作 App。</a:t>
            </a:r>
          </a:p>
        </p:txBody>
      </p:sp>
      <p:sp>
        <p:nvSpPr>
          <p:cNvPr id="33" name="Oval 32"/>
          <p:cNvSpPr/>
          <p:nvPr/>
        </p:nvSpPr>
        <p:spPr>
          <a:xfrm>
            <a:off x="8302752" y="3611880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85048" y="3694176"/>
            <a:ext cx="146304" cy="146304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20656" y="2331720"/>
            <a:ext cx="1847088" cy="2176272"/>
          </a:xfrm>
          <a:prstGeom prst="roundRect">
            <a:avLst/>
          </a:prstGeom>
          <a:solidFill>
            <a:srgbClr val="EFF7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38944" y="2350008"/>
            <a:ext cx="64008" cy="2139696"/>
          </a:xfrm>
          <a:prstGeom prst="rect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76104" y="2459736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测试</a:t>
            </a:r>
          </a:p>
          <a:p>
            <a:pPr algn="l">
              <a:spcAft>
                <a:spcPts val="0"/>
              </a:spcAft>
            </a:pPr>
            <a:r>
              <a:rPr sz="1340" b="1">
                <a:solidFill>
                  <a:srgbClr val="4A3517"/>
                </a:solidFill>
                <a:latin typeface="Microsoft YaHei"/>
              </a:rPr>
              <a:t>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76104" y="2770632"/>
            <a:ext cx="1591056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围绕 API 接入、交互闭环、提醒语义、异常边界与实机表现持续修复和验证。</a:t>
            </a:r>
          </a:p>
        </p:txBody>
      </p:sp>
      <p:sp>
        <p:nvSpPr>
          <p:cNvPr id="39" name="Oval 38"/>
          <p:cNvSpPr/>
          <p:nvPr/>
        </p:nvSpPr>
        <p:spPr>
          <a:xfrm>
            <a:off x="10570464" y="3611880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89B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52760" y="3694176"/>
            <a:ext cx="146304" cy="146304"/>
          </a:xfrm>
          <a:prstGeom prst="ellipse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校园通知的问题不是“看不懂”，而是“看懂以后仍然要重复劳动”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传统流程把用户卡在跨应用切换和手动再录入里，《织时》要做的是把这段操作压缩到最短。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2121408"/>
            <a:ext cx="5230368" cy="3474720"/>
          </a:xfrm>
          <a:prstGeom prst="roundRect">
            <a:avLst/>
          </a:prstGeom>
          <a:solidFill>
            <a:srgbClr val="F6E6D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139696"/>
            <a:ext cx="64008" cy="3438144"/>
          </a:xfrm>
          <a:prstGeom prst="rect">
            <a:avLst/>
          </a:prstGeom>
          <a:solidFill>
            <a:srgbClr val="E7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249424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4A3517"/>
                </a:solidFill>
                <a:latin typeface="Microsoft YaHei"/>
              </a:rPr>
              <a:t>传统路径：信息知道了，但秩序没有建立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560320"/>
            <a:ext cx="4974336" cy="2944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1. 看懂海报 / 通知 / 截图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2. 记住时间、地点、要求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3. 再打开日历、地图或备忘录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4. 手动录入并重新检查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5. 忘记、漏办、错记仍然高频发生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121408"/>
            <a:ext cx="5084064" cy="347472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3" y="2139696"/>
            <a:ext cx="64008" cy="343814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249424"/>
            <a:ext cx="48280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4A3517"/>
                </a:solidFill>
                <a:latin typeface="Microsoft YaHei"/>
              </a:rPr>
              <a:t>织时路径：把无序输入压缩成一次可确认执行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60320"/>
            <a:ext cx="4828031" cy="2944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1. 拍照 / 分享 / 粘贴 / 语音输入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2. AI 提取结构化事件和建议动作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3. 用户在确认卡上完成最后授权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4. 系统写入日历、发起导航、安排提醒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05B33"/>
                </a:solidFill>
                <a:latin typeface="Microsoft YaHei"/>
              </a:rPr>
              <a:t>5. 结果沉淀到个人时间线与本地资产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4564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D7A82C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815584"/>
            <a:ext cx="9509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D7A82C"/>
                </a:solidFill>
                <a:latin typeface="Microsoft YaHei"/>
              </a:rPr>
              <a:t>AI 去适应用户的无序输入，而不是让用户先学系统规则。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《织时》把 AI 从聊天工具改造成了一个 Visual-to-Tool 智能体中间层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它不是单点 OCR，也不是自由对话，而是把输入、理解、风控和系统执行串成完整闭环。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2084831"/>
            <a:ext cx="3566160" cy="164592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103120"/>
            <a:ext cx="64008" cy="160934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212848"/>
            <a:ext cx="3310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多模态收敛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23744"/>
            <a:ext cx="3310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拍照、相册、系统分享、粘贴文本、语音输入统一进入同一条理解链路。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35424" y="2084831"/>
            <a:ext cx="3566160" cy="164592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53712" y="2103120"/>
            <a:ext cx="64008" cy="160934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212848"/>
            <a:ext cx="3310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结构化意图输出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523744"/>
            <a:ext cx="3310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大模型被约束为 strict JSON：action + confidence + payload，而不是发散式自然语言。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2084831"/>
            <a:ext cx="3108960" cy="1645920"/>
          </a:xfrm>
          <a:prstGeom prst="roundRect">
            <a:avLst/>
          </a:prstGeom>
          <a:solidFill>
            <a:srgbClr val="EFF7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5" y="2103120"/>
            <a:ext cx="64008" cy="1609344"/>
          </a:xfrm>
          <a:prstGeom prst="rect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2212848"/>
            <a:ext cx="2852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执行前风险闸门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523744"/>
            <a:ext cx="28529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RiskPolicyEngine + HITL 负责把“能识别”提升为“敢执行”。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005072"/>
            <a:ext cx="4791456" cy="148132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36" y="4023359"/>
            <a:ext cx="64008" cy="1444752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133087"/>
            <a:ext cx="4535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一句话定位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4443983"/>
            <a:ext cx="453542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705B33"/>
                </a:solidFill>
                <a:latin typeface="Microsoft YaHei"/>
              </a:rPr>
              <a:t>面向高校场景的智能体原型：把校园通知、海报、截图和语音，重构为可确认、可提醒、可回看的个人时间线。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70448" y="4005072"/>
            <a:ext cx="5468112" cy="148132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88736" y="4023359"/>
            <a:ext cx="64008" cy="1444752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5896" y="4133087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不是这些，而是这些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5896" y="4443983"/>
            <a:ext cx="521208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不是：只会识别图片的 Demo / 传统手填日历 / 无边界聊天助手</a:t>
            </a:r>
          </a:p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而是：校园信息降噪器 / 时间秩序重构器 / 系统能力调度中间层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Today-First、信息降噪与先解释再执行共同塑造了产品体验基线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设计不是装饰层，而是把复杂 AI 链路压缩成用户一眼就能做决定的界面秩序。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2148840"/>
            <a:ext cx="3657600" cy="132588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167128"/>
            <a:ext cx="64008" cy="128930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276856"/>
            <a:ext cx="34015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Today-First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87752"/>
            <a:ext cx="340156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首页优先展示“下一件最重要的事”，而不是先让用户面对复杂日历。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148840"/>
            <a:ext cx="3246120" cy="13258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36007" y="2167128"/>
            <a:ext cx="64008" cy="128930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276856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信息降噪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587752"/>
            <a:ext cx="2990087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只保留时间、地点、事件和建议动作，把解释性噪音从首屏剥离。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2148840"/>
            <a:ext cx="3310128" cy="13258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2167128"/>
            <a:ext cx="64008" cy="128930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276856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卡片化表达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587752"/>
            <a:ext cx="305409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Bento UI 为不同任务建立清晰边界，让输入、确认、沉淀各自归位。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675887"/>
            <a:ext cx="4864608" cy="1353312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3694175"/>
            <a:ext cx="64008" cy="1316736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803903"/>
            <a:ext cx="4608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先解释，再执行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114800"/>
            <a:ext cx="46085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AI 不越权代办，中高风险动作必须先展示依据，再由用户确认。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07024" y="3675887"/>
            <a:ext cx="5431536" cy="1353312"/>
          </a:xfrm>
          <a:prstGeom prst="roundRect">
            <a:avLst/>
          </a:prstGeom>
          <a:solidFill>
            <a:srgbClr val="EFF7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25312" y="3694175"/>
            <a:ext cx="64008" cy="1316736"/>
          </a:xfrm>
          <a:prstGeom prst="rect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3803903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正常 App 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4114800"/>
            <a:ext cx="51755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保持首页 / 时间线 / 我的三页结构，避免产品停留在工具演示感。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532120"/>
            <a:ext cx="10058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10" b="1">
                <a:solidFill>
                  <a:srgbClr val="D7A82C"/>
                </a:solidFill>
                <a:latin typeface="Microsoft YaHei"/>
              </a:rPr>
              <a:t>视觉风格基线：Material Design 3 × Bento UI × Glassmorphism × 低饱和暖色系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完整主链路已经从多源导入打通到系统执行与时间线沉淀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产品价值不在某一个识别动作，而在“输入 → 理解 → 决策 → 执行 → 沉淀”的整条链路。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2212848"/>
            <a:ext cx="2331720" cy="1335024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231136"/>
            <a:ext cx="64008" cy="1298448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340864"/>
            <a:ext cx="20756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>
                <a:solidFill>
                  <a:srgbClr val="4A3517"/>
                </a:solidFill>
                <a:latin typeface="Microsoft YaHei"/>
              </a:rPr>
              <a:t>01  多源收敛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651760"/>
            <a:ext cx="2075687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拍照 / 相册 / 分享 / 粘贴 / 语音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258775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D7A82C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212848"/>
            <a:ext cx="2331720" cy="1335024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75887" y="2231136"/>
            <a:ext cx="64008" cy="1298448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3048" y="2340864"/>
            <a:ext cx="20756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>
                <a:solidFill>
                  <a:srgbClr val="4A3517"/>
                </a:solidFill>
                <a:latin typeface="Microsoft YaHei"/>
              </a:rPr>
              <a:t>02  统一建模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2651760"/>
            <a:ext cx="2075687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CampusNoticeInput 屏蔽底层来源差异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58775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D7A82C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3952" y="2212848"/>
            <a:ext cx="2331720" cy="1335024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2231136"/>
            <a:ext cx="64008" cy="1298448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340864"/>
            <a:ext cx="20756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>
                <a:solidFill>
                  <a:srgbClr val="4A3517"/>
                </a:solidFill>
                <a:latin typeface="Microsoft YaHei"/>
              </a:rPr>
              <a:t>03  OCR +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651760"/>
            <a:ext cx="2075687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图片先 OCR，文本与 OCR 结果再送结构化理解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58775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D7A82C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0304" y="2212848"/>
            <a:ext cx="2331720" cy="1335024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08592" y="2231136"/>
            <a:ext cx="64008" cy="1298448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45752" y="2340864"/>
            <a:ext cx="20756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>
                <a:solidFill>
                  <a:srgbClr val="4A3517"/>
                </a:solidFill>
                <a:latin typeface="Microsoft YaHei"/>
              </a:rPr>
              <a:t>04  结构化输出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651760"/>
            <a:ext cx="2075687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action + confidence + payload + fallback_query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67712" y="4160520"/>
            <a:ext cx="2331720" cy="1335024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0" y="4178807"/>
            <a:ext cx="64008" cy="1298448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4288536"/>
            <a:ext cx="20756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>
                <a:solidFill>
                  <a:srgbClr val="4A3517"/>
                </a:solidFill>
                <a:latin typeface="Microsoft YaHei"/>
              </a:rPr>
              <a:t>05  风险判定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99431"/>
            <a:ext cx="2075687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字段完整性、阈值与动作等级进入 Policy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53542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74BACA"/>
                </a:solidFill>
                <a:latin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4064" y="4160520"/>
            <a:ext cx="2331720" cy="1335024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02352" y="4178807"/>
            <a:ext cx="64008" cy="1298448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9512" y="4288536"/>
            <a:ext cx="20756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>
                <a:solidFill>
                  <a:srgbClr val="4A3517"/>
                </a:solidFill>
                <a:latin typeface="Microsoft YaHei"/>
              </a:rPr>
              <a:t>06  确认执行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9512" y="4599431"/>
            <a:ext cx="2075687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首页确认卡 + 日历 / 地图 / 提醒 / TTS 调度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1504" y="453542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74BACA"/>
                </a:solidFill>
                <a:latin typeface="Microsoft YaHe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00416" y="4160520"/>
            <a:ext cx="2331720" cy="1335024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18704" y="4178807"/>
            <a:ext cx="64008" cy="1298448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5864" y="4288536"/>
            <a:ext cx="20756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>
                <a:solidFill>
                  <a:srgbClr val="4A3517"/>
                </a:solidFill>
                <a:latin typeface="Microsoft YaHei"/>
              </a:rPr>
              <a:t>07  本地沉淀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55864" y="4599431"/>
            <a:ext cx="2075687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时间线、提醒偏好、导出与资产回看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3017520" y="3566160"/>
            <a:ext cx="6355080" cy="502920"/>
          </a:xfrm>
          <a:prstGeom prst="line">
            <a:avLst/>
          </a:prstGeom>
          <a:ln w="1397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系统架构把大模型能力约束进可维护、可验证的工程边界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这也是《织时》能够从概念原型走向成熟参赛作品的关键原因。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7824" y="1993392"/>
            <a:ext cx="5349240" cy="73152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" y="2011680"/>
            <a:ext cx="64008" cy="69494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121408"/>
            <a:ext cx="50932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展示层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2432304"/>
            <a:ext cx="509320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首页 / 时间线 / 我的 / 启动页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2505456"/>
            <a:ext cx="5129783" cy="73152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2523744"/>
            <a:ext cx="64008" cy="69494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633472"/>
            <a:ext cx="48737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提醒与沉淀层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44368"/>
            <a:ext cx="48737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ReminderScheduler / DataStore / 导出能力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017520"/>
            <a:ext cx="4910327" cy="73152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5568" y="3035808"/>
            <a:ext cx="64008" cy="69494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3145536"/>
            <a:ext cx="4654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执行层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456432"/>
            <a:ext cx="465429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IntentDispatcher / Calendar / Map / TTS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7007" y="3529584"/>
            <a:ext cx="4690872" cy="73152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25295" y="3547872"/>
            <a:ext cx="64008" cy="69494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2455" y="36576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风险决策层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5" y="3968496"/>
            <a:ext cx="4434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RiskPolicyEngine / ActionValidator / fusedConfidence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6736" y="4041648"/>
            <a:ext cx="4471416" cy="73152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35024" y="4059935"/>
            <a:ext cx="64008" cy="69494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72184" y="4169663"/>
            <a:ext cx="421538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智能理解层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2184" y="4480560"/>
            <a:ext cx="421538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VLMNetworkClient / OCR / ResponseInterpreter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26464" y="4553712"/>
            <a:ext cx="4251959" cy="73152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44752" y="4572000"/>
            <a:ext cx="64008" cy="69494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1912" y="4681728"/>
            <a:ext cx="39959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预处理层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4992624"/>
            <a:ext cx="399592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图片读取 / Base64 / 文本归一化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36192" y="5065776"/>
            <a:ext cx="4032504" cy="73152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54480" y="5084064"/>
            <a:ext cx="64008" cy="69494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39" y="5193792"/>
            <a:ext cx="3776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输入层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39" y="5504688"/>
            <a:ext cx="3776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05B33"/>
                </a:solidFill>
                <a:latin typeface="Microsoft YaHei"/>
              </a:rPr>
              <a:t>相机 / 相册 / 分享 / 粘贴 / 语音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2103120"/>
            <a:ext cx="4617720" cy="93268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56248" y="2121408"/>
            <a:ext cx="64008" cy="896112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2231136"/>
            <a:ext cx="4361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关键代码模块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2542032"/>
            <a:ext cx="43616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705B33"/>
                </a:solidFill>
                <a:latin typeface="Consolas"/>
              </a:rPr>
              <a:t>MainActivity · HomeScreenModule · TimelineScreenModule · ProfileScreenModule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3218688"/>
            <a:ext cx="4617720" cy="93268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56248" y="3236976"/>
            <a:ext cx="64008" cy="896112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93408" y="3346704"/>
            <a:ext cx="4361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模型与接口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3657600"/>
            <a:ext cx="43616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705B33"/>
                </a:solidFill>
                <a:latin typeface="Microsoft YaHei"/>
              </a:rPr>
              <a:t>VLM_APP_ID / VLM_API_KEY 已接入 vivo 真接口</a:t>
            </a:r>
          </a:p>
          <a:p>
            <a:pPr algn="l">
              <a:spcAft>
                <a:spcPts val="0"/>
              </a:spcAft>
            </a:pPr>
            <a:r>
              <a:rPr sz="1010" b="0">
                <a:solidFill>
                  <a:srgbClr val="705B33"/>
                </a:solidFill>
                <a:latin typeface="Microsoft YaHei"/>
              </a:rPr>
              <a:t>文本直连 chat/completions；图片走 OCR + LLM 双阶段链路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4334256"/>
            <a:ext cx="4617720" cy="932688"/>
          </a:xfrm>
          <a:prstGeom prst="roundRect">
            <a:avLst/>
          </a:prstGeom>
          <a:solidFill>
            <a:srgbClr val="EFF7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56248" y="4352544"/>
            <a:ext cx="64008" cy="896112"/>
          </a:xfrm>
          <a:prstGeom prst="rect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3408" y="4462272"/>
            <a:ext cx="4361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工程边界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93408" y="4773168"/>
            <a:ext cx="43616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705B33"/>
                </a:solidFill>
                <a:latin typeface="Microsoft YaHei"/>
              </a:rPr>
              <a:t>不回退 mock、不破坏页面基线、不把风控移除、不把执行链重新做成黑盒。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风险决策与人在回路是项目从 Demo 走向产品的关键分水岭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《织时》不是把模型结果直接映射成动作，而是让客户端保留最后一层解释、追问和拦截。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9536" y="2121408"/>
            <a:ext cx="4663440" cy="3456432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2139696"/>
            <a:ext cx="64008" cy="3419856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249424"/>
            <a:ext cx="44074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Extract → Suggest → Confirm → Execute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2560320"/>
            <a:ext cx="4407407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705B33"/>
                </a:solidFill>
                <a:latin typeface="Microsoft YaHei"/>
              </a:rPr>
              <a:t>Extract：获取结构化 JSON 结果</a:t>
            </a:r>
          </a:p>
          <a:p>
            <a:pPr algn="l">
              <a:spcAft>
                <a:spcPts val="0"/>
              </a:spcAft>
            </a:pPr>
            <a:r>
              <a:rPr sz="1130" b="0">
                <a:solidFill>
                  <a:srgbClr val="705B33"/>
                </a:solidFill>
                <a:latin typeface="Microsoft YaHe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30" b="0">
                <a:solidFill>
                  <a:srgbClr val="705B33"/>
                </a:solidFill>
                <a:latin typeface="Microsoft YaHei"/>
              </a:rPr>
              <a:t>Suggest：校验字段完整性、置信度和动作等级</a:t>
            </a:r>
          </a:p>
          <a:p>
            <a:pPr algn="l">
              <a:spcAft>
                <a:spcPts val="0"/>
              </a:spcAft>
            </a:pPr>
            <a:r>
              <a:rPr sz="1130" b="0">
                <a:solidFill>
                  <a:srgbClr val="705B33"/>
                </a:solidFill>
                <a:latin typeface="Microsoft YaHe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30" b="0">
                <a:solidFill>
                  <a:srgbClr val="705B33"/>
                </a:solidFill>
                <a:latin typeface="Microsoft YaHei"/>
              </a:rPr>
              <a:t>Confirm：中高风险动作必须进入确认或澄清</a:t>
            </a:r>
          </a:p>
          <a:p>
            <a:pPr algn="l">
              <a:spcAft>
                <a:spcPts val="0"/>
              </a:spcAft>
            </a:pPr>
            <a:r>
              <a:rPr sz="1130" b="0">
                <a:solidFill>
                  <a:srgbClr val="705B33"/>
                </a:solidFill>
                <a:latin typeface="Microsoft YaHe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30" b="0">
                <a:solidFill>
                  <a:srgbClr val="705B33"/>
                </a:solidFill>
                <a:latin typeface="Microsoft YaHei"/>
              </a:rPr>
              <a:t>Execute：只把被允许的动作映射给系统 Intent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9008" y="2121408"/>
            <a:ext cx="5486400" cy="1115568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97296" y="2139696"/>
            <a:ext cx="64008" cy="1078992"/>
          </a:xfrm>
          <a:prstGeom prst="rect">
            <a:avLst/>
          </a:prstGeom>
          <a:solidFill>
            <a:srgbClr val="E7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34456" y="2249424"/>
            <a:ext cx="5230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10" b="1">
                <a:solidFill>
                  <a:srgbClr val="4A3517"/>
                </a:solidFill>
                <a:latin typeface="Microsoft YaHei"/>
              </a:rPr>
              <a:t>当前动作风险分级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560320"/>
            <a:ext cx="5230368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05B33"/>
                </a:solidFill>
                <a:latin typeface="Microsoft YaHei"/>
              </a:rPr>
              <a:t>send_sms：高风险，绝不自动发送    create_event / navigate：中风险，必须确认    tts_feedback：低风险，可直接播报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79008" y="3438144"/>
            <a:ext cx="5486400" cy="93268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97296" y="3456432"/>
            <a:ext cx="64008" cy="896112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3566160"/>
            <a:ext cx="5230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结构化契约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3877056"/>
            <a:ext cx="523036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Consolas"/>
              </a:rPr>
              <a:t>action + confidence + payload + fallback_query + target_found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9008" y="4572000"/>
            <a:ext cx="5486400" cy="1005840"/>
          </a:xfrm>
          <a:prstGeom prst="roundRect">
            <a:avLst/>
          </a:prstGeom>
          <a:solidFill>
            <a:srgbClr val="EFF7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97296" y="4590288"/>
            <a:ext cx="64008" cy="969264"/>
          </a:xfrm>
          <a:prstGeom prst="rect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34456" y="4700016"/>
            <a:ext cx="5230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安全价值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6" y="5010912"/>
            <a:ext cx="523036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让评委和用户都能清楚看到：系统为什么建议、为什么拦截、为什么需要再确认。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UI /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三页主结构让高频操作、资产沉淀和控制中枢各归其位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视觉上保持 Minimalist Tech + Bento UI，信息上坚持先焦点、再结构、再控制。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2084831"/>
            <a:ext cx="3502152" cy="356616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103120"/>
            <a:ext cx="64008" cy="352958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21284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A3517"/>
                </a:solidFill>
                <a:latin typeface="Microsoft YaHei"/>
              </a:rPr>
              <a:t>首页 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523744"/>
            <a:ext cx="3246120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角色：动态 AI 工作台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• Today-First 焦点卡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• 多模态意图输入舱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• 白盒化确认卡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• 最近识别结果与继续动作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首页解决的是“现在要处理什么”。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084831"/>
            <a:ext cx="3502152" cy="35661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4568" y="2103120"/>
            <a:ext cx="64008" cy="352958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21284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A3517"/>
                </a:solidFill>
                <a:latin typeface="Microsoft YaHei"/>
              </a:rPr>
              <a:t>时间线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523744"/>
            <a:ext cx="3246120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角色：秩序化资产沉淀区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• 日 / 周 / 月聚合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• 垂直时间轴列表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• 提醒状态与导出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• 日程详情与回看</a:t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090" b="0">
                <a:solidFill>
                  <a:srgbClr val="705B33"/>
                </a:solidFill>
                <a:latin typeface="Microsoft YaHei"/>
              </a:rPr>
              <a:t>时间线解决的是“这些事如何被组织起来”。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2" y="2084831"/>
            <a:ext cx="3127248" cy="356616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03120"/>
            <a:ext cx="64008" cy="3529584"/>
          </a:xfrm>
          <a:prstGeom prst="rect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212848"/>
            <a:ext cx="2871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A3517"/>
                </a:solidFill>
                <a:latin typeface="Microsoft YaHei"/>
              </a:rPr>
              <a:t>我的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523744"/>
            <a:ext cx="2871215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705B33"/>
                </a:solidFill>
                <a:latin typeface="Microsoft YaHei"/>
              </a:rPr>
              <a:t>角色：智能体控制中枢</a:t>
            </a:r>
          </a:p>
          <a:p>
            <a:pPr algn="l">
              <a:spcAft>
                <a:spcPts val="0"/>
              </a:spcAft>
            </a:pPr>
            <a:r>
              <a:rPr sz="1070" b="0">
                <a:solidFill>
                  <a:srgbClr val="705B33"/>
                </a:solidFill>
                <a:latin typeface="Microsoft YaHe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070" b="0">
                <a:solidFill>
                  <a:srgbClr val="705B33"/>
                </a:solidFill>
                <a:latin typeface="Microsoft YaHei"/>
              </a:rPr>
              <a:t>• 账号资料与偏好</a:t>
            </a:r>
          </a:p>
          <a:p>
            <a:pPr algn="l">
              <a:spcAft>
                <a:spcPts val="0"/>
              </a:spcAft>
            </a:pPr>
            <a:r>
              <a:rPr sz="1070" b="0">
                <a:solidFill>
                  <a:srgbClr val="705B33"/>
                </a:solidFill>
                <a:latin typeface="Microsoft YaHei"/>
              </a:rPr>
              <a:t>• 数字福祉与统计</a:t>
            </a:r>
          </a:p>
          <a:p>
            <a:pPr algn="l">
              <a:spcAft>
                <a:spcPts val="0"/>
              </a:spcAft>
            </a:pPr>
            <a:r>
              <a:rPr sz="1070" b="0">
                <a:solidFill>
                  <a:srgbClr val="705B33"/>
                </a:solidFill>
                <a:latin typeface="Microsoft YaHei"/>
              </a:rPr>
              <a:t>• 历史 / 账户 / 设置 / 更多功能</a:t>
            </a:r>
          </a:p>
          <a:p>
            <a:pPr algn="l">
              <a:spcAft>
                <a:spcPts val="0"/>
              </a:spcAft>
            </a:pPr>
            <a:r>
              <a:rPr sz="1070" b="0">
                <a:solidFill>
                  <a:srgbClr val="705B33"/>
                </a:solidFill>
                <a:latin typeface="Microsoft YaHei"/>
              </a:rPr>
              <a:t>• 风险开关与提醒策略</a:t>
            </a:r>
          </a:p>
          <a:p>
            <a:pPr algn="l">
              <a:spcAft>
                <a:spcPts val="0"/>
              </a:spcAft>
            </a:pPr>
            <a:r>
              <a:rPr sz="1070" b="0">
                <a:solidFill>
                  <a:srgbClr val="705B33"/>
                </a:solidFill>
                <a:latin typeface="Microsoft YaHe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070" b="0">
                <a:solidFill>
                  <a:srgbClr val="705B33"/>
                </a:solidFill>
                <a:latin typeface="Microsoft YaHei"/>
              </a:rPr>
              <a:t>这里解决的是“我如何掌控这个智能体”。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项目推进遵循“先打主链路，再补系统能力，再修关键问题”的节奏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时间线上的每一次收口，都是为了让作品更接近真正可演示、可答辩、可交付的状态。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05840" y="3739896"/>
            <a:ext cx="9966960" cy="27432"/>
          </a:xfrm>
          <a:prstGeom prst="rect">
            <a:avLst/>
          </a:prstGeom>
          <a:solidFill>
            <a:srgbClr val="E7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3657600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000" y="3703320"/>
            <a:ext cx="109728" cy="109728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197864" y="3273552"/>
            <a:ext cx="0" cy="384048"/>
          </a:xfrm>
          <a:prstGeom prst="line">
            <a:avLst/>
          </a:prstGeom>
          <a:ln w="1270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3" y="2331720"/>
            <a:ext cx="1444752" cy="102412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2350008"/>
            <a:ext cx="64008" cy="987552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45973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05.11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770632"/>
            <a:ext cx="11887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API / UI 基线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真实模型接入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三页结构定型</a:t>
            </a:r>
          </a:p>
        </p:txBody>
      </p:sp>
      <p:sp>
        <p:nvSpPr>
          <p:cNvPr id="18" name="Oval 17"/>
          <p:cNvSpPr/>
          <p:nvPr/>
        </p:nvSpPr>
        <p:spPr>
          <a:xfrm>
            <a:off x="2834640" y="3657600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80360" y="3703320"/>
            <a:ext cx="109728" cy="109728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935224" y="3858768"/>
            <a:ext cx="0" cy="384048"/>
          </a:xfrm>
          <a:prstGeom prst="line">
            <a:avLst/>
          </a:prstGeom>
          <a:ln w="1270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49424" y="3950208"/>
            <a:ext cx="1444752" cy="102412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67712" y="3968496"/>
            <a:ext cx="64008" cy="987552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407822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05.12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4389120"/>
            <a:ext cx="11887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测试闭环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自动化验证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交互语义修正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3657600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20" y="3703320"/>
            <a:ext cx="109728" cy="109728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4672584" y="3273552"/>
            <a:ext cx="0" cy="384048"/>
          </a:xfrm>
          <a:prstGeom prst="line">
            <a:avLst/>
          </a:prstGeom>
          <a:ln w="1270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986784" y="2331720"/>
            <a:ext cx="1444752" cy="102412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05072" y="2350008"/>
            <a:ext cx="64008" cy="987552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2232" y="245973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05.29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42232" y="2770632"/>
            <a:ext cx="11887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语音与交付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构建、安装、APK 输出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3657600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55080" y="3703320"/>
            <a:ext cx="109728" cy="109728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409944" y="3858768"/>
            <a:ext cx="0" cy="384048"/>
          </a:xfrm>
          <a:prstGeom prst="line">
            <a:avLst/>
          </a:prstGeom>
          <a:ln w="1270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724144" y="3950208"/>
            <a:ext cx="1444752" cy="102412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2432" y="3968496"/>
            <a:ext cx="64008" cy="987552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9592" y="407822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06.01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9592" y="4389120"/>
            <a:ext cx="11887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编译恢复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修复编码问题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恢复稳定构建</a:t>
            </a:r>
          </a:p>
        </p:txBody>
      </p:sp>
      <p:sp>
        <p:nvSpPr>
          <p:cNvPr id="39" name="Oval 38"/>
          <p:cNvSpPr/>
          <p:nvPr/>
        </p:nvSpPr>
        <p:spPr>
          <a:xfrm>
            <a:off x="8046720" y="3657600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92440" y="3703320"/>
            <a:ext cx="109728" cy="109728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8147304" y="3273552"/>
            <a:ext cx="0" cy="384048"/>
          </a:xfrm>
          <a:prstGeom prst="line">
            <a:avLst/>
          </a:prstGeom>
          <a:ln w="1270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461504" y="2331720"/>
            <a:ext cx="1444752" cy="102412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79792" y="2350008"/>
            <a:ext cx="64008" cy="987552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16952" y="245973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06.06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16952" y="2770632"/>
            <a:ext cx="11887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识别兜底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多事项切分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提高通知解析覆盖</a:t>
            </a:r>
          </a:p>
        </p:txBody>
      </p:sp>
      <p:sp>
        <p:nvSpPr>
          <p:cNvPr id="46" name="Oval 45"/>
          <p:cNvSpPr/>
          <p:nvPr/>
        </p:nvSpPr>
        <p:spPr>
          <a:xfrm>
            <a:off x="9784080" y="3657600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29800" y="3703320"/>
            <a:ext cx="109728" cy="109728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9884663" y="3858768"/>
            <a:ext cx="0" cy="384048"/>
          </a:xfrm>
          <a:prstGeom prst="line">
            <a:avLst/>
          </a:prstGeom>
          <a:ln w="1270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198863" y="3950208"/>
            <a:ext cx="1444752" cy="1024128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17151" y="3968496"/>
            <a:ext cx="64008" cy="987552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54311" y="407822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4A3517"/>
                </a:solidFill>
                <a:latin typeface="Microsoft YaHei"/>
              </a:rPr>
              <a:t>06.07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54311" y="4389120"/>
            <a:ext cx="11887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产品收口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提醒语义统一</a:t>
            </a:r>
          </a:p>
          <a:p>
            <a:pPr algn="l">
              <a:spcAft>
                <a:spcPts val="0"/>
              </a:spcAft>
            </a:pPr>
            <a:r>
              <a:rPr sz="940" b="0">
                <a:solidFill>
                  <a:srgbClr val="705B33"/>
                </a:solidFill>
                <a:latin typeface="Microsoft YaHei"/>
              </a:rPr>
              <a:t>我的页结构补齐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ISSUES &amp;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近期修复重点已经从“能不能跑”转向“跑得是否可信、是否顺手”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这部分最能体现项目从展示型原型往成熟型参赛作品靠近的速度。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2139696"/>
            <a:ext cx="5102352" cy="3456432"/>
          </a:xfrm>
          <a:prstGeom prst="roundRect">
            <a:avLst/>
          </a:prstGeom>
          <a:solidFill>
            <a:srgbClr val="EFF7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157984"/>
            <a:ext cx="64008" cy="3419856"/>
          </a:xfrm>
          <a:prstGeom prst="rect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26771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4A3517"/>
                </a:solidFill>
                <a:latin typeface="Microsoft YaHei"/>
              </a:rPr>
              <a:t>已经明确修掉或显著收口的问题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578608"/>
            <a:ext cx="4846320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分享文本和图片已真实跑通到 OCR / 模型 / 确认卡阶段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多事项通知识别增加本地切分兜底，不再只拿到第一条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提醒数统一按“待提醒事项数”统计，避免语义误导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首页主按钮逻辑、重复登录、分享后不回首页等问题已收口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“我的页”从堆叠入口改为统计 / 账户 / 设置等二级结构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139696"/>
            <a:ext cx="5175504" cy="3456432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2157984"/>
            <a:ext cx="64008" cy="3419856"/>
          </a:xfrm>
          <a:prstGeom prst="rect">
            <a:avLst/>
          </a:prstGeom>
          <a:solidFill>
            <a:srgbClr val="E7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2267712"/>
            <a:ext cx="4919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4A3517"/>
                </a:solidFill>
                <a:latin typeface="Microsoft YaHei"/>
              </a:rPr>
              <a:t>仍需继续打磨的边界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578608"/>
            <a:ext cx="4919472" cy="29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语音输入全链路与实机表现仍需进一步验证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地图联动的真实设备适配仍需持续观察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图片低置信度分支与澄清体验还可继续优化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导出 JPG / PNG 与更多边界场景还需要回归测试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• 页面文案、轻量动效和性能表现仍可继续统一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CURRENT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当前版本已经具备可答辩、可演示、可继续扩展的完整闭环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它已经不是“概念图 + 说明文档”，而是一个有真实模型、有真实系统能力、有真实风控的运行原型。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2084831"/>
            <a:ext cx="5486400" cy="356616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103120"/>
            <a:ext cx="64008" cy="352958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212848"/>
            <a:ext cx="5230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4A3517"/>
                </a:solidFill>
                <a:latin typeface="Microsoft YaHei"/>
              </a:rPr>
              <a:t>当前已具备的核心能力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523744"/>
            <a:ext cx="5230368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√ 多入口导入：拍照 / 相册 / 分享 / 粘贴 / 语音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√ vivo AI 接入：文本直连 LLM，图片走 OCR + LLM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√ 结构化 JSON 输出与解释式确认卡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√ 系统执行：日历、地图、提醒、TTS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√ 时间线沉淀、本地持久化与偏好控制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√ Profile 二级入口、统计面板、账号结构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05B33"/>
                </a:solidFill>
                <a:latin typeface="Microsoft YaHei"/>
              </a:rPr>
              <a:t>√ 构建、安装、模拟器验证与 APK 交付路径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7104" y="2084831"/>
            <a:ext cx="4773168" cy="11155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2103120"/>
            <a:ext cx="64008" cy="1078992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2212848"/>
            <a:ext cx="4517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环境与协作基线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523744"/>
            <a:ext cx="451713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705B33"/>
                </a:solidFill>
                <a:latin typeface="Microsoft YaHei"/>
              </a:rPr>
              <a:t>E 盘 Android Studio + 指定 JDK / SDK / AVD；进度说明与配置说明作为统一接手入口。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47104" y="3419856"/>
            <a:ext cx="4773168" cy="1115568"/>
          </a:xfrm>
          <a:prstGeom prst="roundRect">
            <a:avLst/>
          </a:prstGeom>
          <a:solidFill>
            <a:srgbClr val="EFF7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65392" y="3438144"/>
            <a:ext cx="64008" cy="1078992"/>
          </a:xfrm>
          <a:prstGeom prst="rect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3547872"/>
            <a:ext cx="4517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当前演示价值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3858768"/>
            <a:ext cx="4517136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705B33"/>
                </a:solidFill>
                <a:latin typeface="Microsoft YaHei"/>
              </a:rPr>
              <a:t>足以支撑“信息降噪 → 结构化理解 → 安全执行 → 时间线沉淀”的完整答辩叙事。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47104" y="4754880"/>
            <a:ext cx="4773168" cy="896112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65392" y="4773168"/>
            <a:ext cx="64008" cy="859536"/>
          </a:xfrm>
          <a:prstGeom prst="rect">
            <a:avLst/>
          </a:prstGeom>
          <a:solidFill>
            <a:srgbClr val="D7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4882896"/>
            <a:ext cx="4517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一句话结论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5193792"/>
            <a:ext cx="4517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705B33"/>
                </a:solidFill>
                <a:latin typeface="Microsoft YaHei"/>
              </a:rPr>
              <a:t>《织时》已经具备成熟参赛作品的产品边界和工程可信度。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资料依据：README / 作品描述 / 进度说明 / 配置说明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5029200"/>
            <a:ext cx="2743200" cy="164592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37160"/>
            <a:ext cx="2468880" cy="1645920"/>
          </a:xfrm>
          <a:prstGeom prst="ellipse">
            <a:avLst/>
          </a:prstGeom>
          <a:solidFill>
            <a:srgbClr val="A8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0"/>
            <a:ext cx="1005840" cy="640080"/>
          </a:xfrm>
          <a:prstGeom prst="ellipse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11480"/>
            <a:ext cx="1234440" cy="310896"/>
          </a:xfrm>
          <a:prstGeom prst="roundRect">
            <a:avLst/>
          </a:prstGeom>
          <a:solidFill>
            <a:srgbClr val="F4C64A"/>
          </a:solidFill>
          <a:ln w="12700">
            <a:solidFill>
              <a:srgbClr val="F4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A3517"/>
                </a:solidFill>
                <a:latin typeface="Microsoft YaHei"/>
              </a:rPr>
              <a:t>下一阶段已经很清晰：围绕实机体验、语音链路与性能继续收口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这页保留为后续展示与答辩过渡页，你也可以在这里补充演示视频、二维码或团队信息。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810512"/>
            <a:ext cx="10716768" cy="0"/>
          </a:xfrm>
          <a:prstGeom prst="line">
            <a:avLst/>
          </a:prstGeom>
          <a:ln w="16510">
            <a:solidFill>
              <a:srgbClr val="E7D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9536" y="2148840"/>
            <a:ext cx="3419856" cy="2011680"/>
          </a:xfrm>
          <a:prstGeom prst="roundRect">
            <a:avLst/>
          </a:prstGeom>
          <a:solidFill>
            <a:srgbClr val="FFF4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2167128"/>
            <a:ext cx="64008" cy="1975104"/>
          </a:xfrm>
          <a:prstGeom prst="rect">
            <a:avLst/>
          </a:prstGeom>
          <a:solidFill>
            <a:srgbClr val="F4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276856"/>
            <a:ext cx="31638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P0 真实闭环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2587752"/>
            <a:ext cx="3163824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继续把语音、拍照、导航和提醒在真实设备上的闭环验证做扎实，确保演示时不掉链子。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2148840"/>
            <a:ext cx="3419856" cy="20116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2272" y="2167128"/>
            <a:ext cx="64008" cy="1975104"/>
          </a:xfrm>
          <a:prstGeom prst="rect">
            <a:avLst/>
          </a:prstGeom>
          <a:solidFill>
            <a:srgbClr val="7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276856"/>
            <a:ext cx="31638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P1 体验收口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87752"/>
            <a:ext cx="3163824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继续优化低置信度澄清、页面文案一致性、交互反馈和各页流畅度，减少答辩时的感知阻力。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2148840"/>
            <a:ext cx="3310128" cy="2011680"/>
          </a:xfrm>
          <a:prstGeom prst="roundRect">
            <a:avLst/>
          </a:prstGeom>
          <a:solidFill>
            <a:srgbClr val="EFF7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2167128"/>
            <a:ext cx="64008" cy="1975104"/>
          </a:xfrm>
          <a:prstGeom prst="rect">
            <a:avLst/>
          </a:prstGeom>
          <a:solidFill>
            <a:srgbClr val="89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276856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3517"/>
                </a:solidFill>
                <a:latin typeface="Microsoft YaHei"/>
              </a:rPr>
              <a:t>P2 交付表达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587752"/>
            <a:ext cx="3054096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705B33"/>
                </a:solidFill>
                <a:latin typeface="Microsoft YaHei"/>
              </a:rPr>
              <a:t>结合实机演示视频、答辩口播和阶段汇报材料，把产品逻辑、设计语言和工程可信度讲得更完整。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" y="4590288"/>
            <a:ext cx="4480560" cy="987552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4C64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828032"/>
            <a:ext cx="4069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705B33"/>
                </a:solidFill>
                <a:latin typeface="Microsoft YaHei"/>
              </a:rPr>
              <a:t>演示视频 / 二维码占位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705B33"/>
                </a:solidFill>
                <a:latin typeface="Microsoft YaHei"/>
              </a:rPr>
              <a:t>后续可直接替换为录屏、实机视频或展示链接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815584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9A875E"/>
                </a:solidFill>
                <a:latin typeface="Microsoft YaHei"/>
              </a:rPr>
              <a:t>团队：________________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473659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20" b="1">
                <a:solidFill>
                  <a:srgbClr val="4A3517"/>
                </a:solidFill>
                <a:latin typeface="Microsoft YaHei"/>
              </a:rPr>
              <a:t>结论：我们已经把《织时》从“想法”推进到了“可被验证的产品形态”。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5321808"/>
            <a:ext cx="5303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05B33"/>
                </a:solidFill>
                <a:latin typeface="Microsoft YaHei"/>
              </a:rPr>
              <a:t>后续只需要继续围绕真实设备体验和边界稳定性打磨，就能让它更接近完整交付。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8046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A875E"/>
                </a:solidFill>
                <a:latin typeface="Microsoft YaHei"/>
              </a:rPr>
              <a:t>资料依据：配置说明.md / 进度说明.md / 作品描述.md / README.md / demo_script.md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38251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875E"/>
                </a:solidFill>
                <a:latin typeface="Consolas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《织时》项目汇报</dc:title>
  <dc:subject>从设计思维流程到项目推进全过程</dc:subject>
  <dc:creator>Codex</dc:creator>
  <cp:keywords/>
  <dc:description>Generated from current project documents.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