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0" r:id="rId3"/>
    <p:sldId id="271" r:id="rId4"/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9652000" y="-1397000"/>
            <a:ext cx="3302000" cy="3302000"/>
          </a:xfrm>
          <a:prstGeom prst="ellipse">
            <a:avLst/>
          </a:prstGeom>
          <a:solidFill>
            <a:srgbClr val="DFF8ED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-889000" y="5334000"/>
            <a:ext cx="2286000" cy="2286000"/>
          </a:xfrm>
          <a:prstGeom prst="ellipse">
            <a:avLst/>
          </a:prstGeom>
          <a:solidFill>
            <a:srgbClr val="FFF1C9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572000" y="6146800"/>
            <a:ext cx="2794000" cy="1143000"/>
          </a:xfrm>
          <a:prstGeom prst="ellipse">
            <a:avLst/>
          </a:prstGeom>
          <a:solidFill>
            <a:srgbClr val="FFF3DF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5800" y="889000"/>
            <a:ext cx="3302000" cy="892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58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织时</a:t>
            </a:r>
            <a:endParaRPr lang="zh-CN" altLang="en-US" sz="58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6600" y="1854200"/>
            <a:ext cx="3302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300" b="1">
                <a:solidFill>
                  <a:srgbClr val="0E5A49"/>
                </a:solidFill>
                <a:latin typeface="Consolas" panose="020B0609020204030204" charset="0"/>
                <a:cs typeface="Consolas" panose="020B0609020204030204" charset="0"/>
              </a:rPr>
              <a:t>TimeWeaver</a:t>
            </a:r>
            <a:endParaRPr lang="en-US" altLang="en-US" sz="2300" b="1">
              <a:solidFill>
                <a:srgbClr val="0E5A49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2641600"/>
            <a:ext cx="6350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2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将校园信息碎片整合为专属时间线的智能助手</a:t>
            </a:r>
            <a:endParaRPr lang="zh-CN" altLang="en-US" sz="22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00" y="3251200"/>
            <a:ext cx="647700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阶段进度汇报｜</a:t>
            </a:r>
            <a:r>
              <a:rPr lang="en-US" altLang="zh-CN" sz="13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Android </a:t>
            </a:r>
            <a:r>
              <a:rPr lang="zh-CN" altLang="en-US" sz="13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客户端真实运行版｜</a:t>
            </a:r>
            <a:r>
              <a:rPr lang="en-US" altLang="zh-CN" sz="13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2026-05-19</a:t>
            </a:r>
            <a:endParaRPr lang="en-US" altLang="zh-CN" sz="135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62000" y="3886200"/>
            <a:ext cx="1193800" cy="355600"/>
          </a:xfrm>
          <a:prstGeom prst="roundRect">
            <a:avLst/>
          </a:prstGeom>
          <a:solidFill>
            <a:srgbClr val="DFF8ED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89000" y="3962400"/>
            <a:ext cx="9398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0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</a:rPr>
              <a:t>信息降噪</a:t>
            </a:r>
            <a:endParaRPr lang="zh-CN" altLang="en-US" sz="10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082800" y="3886200"/>
            <a:ext cx="1422400" cy="355600"/>
          </a:xfrm>
          <a:prstGeom prst="roundRect">
            <a:avLst/>
          </a:prstGeom>
          <a:solidFill>
            <a:srgbClr val="FFF1C9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209800" y="3962400"/>
            <a:ext cx="1168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0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</a:rPr>
              <a:t>多模态导入</a:t>
            </a:r>
            <a:endParaRPr lang="zh-CN" altLang="en-US" sz="10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632200" y="3886200"/>
            <a:ext cx="1193800" cy="355600"/>
          </a:xfrm>
          <a:prstGeom prst="roundRect">
            <a:avLst/>
          </a:prstGeom>
          <a:solidFill>
            <a:srgbClr val="FFF0EE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59200" y="3962400"/>
            <a:ext cx="9398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0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</a:rPr>
              <a:t>人在回路</a:t>
            </a:r>
            <a:endParaRPr lang="zh-CN" altLang="en-US" sz="10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53000" y="3886200"/>
            <a:ext cx="1422400" cy="355600"/>
          </a:xfrm>
          <a:prstGeom prst="roundRect">
            <a:avLst/>
          </a:prstGeom>
          <a:solidFill>
            <a:srgbClr val="DFF8ED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80000" y="3962400"/>
            <a:ext cx="1168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0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专属时间线</a:t>
            </a:r>
            <a:endParaRPr lang="zh-CN" altLang="en-US" sz="10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87400" y="4622800"/>
            <a:ext cx="5994400" cy="13970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736600" y="4546600"/>
            <a:ext cx="59944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066800" y="4851400"/>
            <a:ext cx="152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</a:rPr>
              <a:t>汇报主线</a:t>
            </a:r>
            <a:endParaRPr lang="zh-CN" altLang="en-US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66800" y="5257800"/>
            <a:ext cx="53086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</a:t>
            </a:r>
            <a:r>
              <a:rPr lang="en-US" altLang="zh-CN" sz="125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“</a:t>
            </a:r>
            <a:r>
              <a:rPr lang="zh-CN" altLang="en-US" sz="125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校园通知碎片</a:t>
            </a:r>
            <a:r>
              <a:rPr lang="en-US" altLang="zh-CN" sz="125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”</a:t>
            </a:r>
            <a:r>
              <a:rPr lang="zh-CN" altLang="en-US" sz="125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出发，展示《织时》如何通过真实</a:t>
            </a:r>
            <a:r>
              <a:rPr lang="en-US" altLang="zh-CN" sz="125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API</a:t>
            </a:r>
            <a:r>
              <a:rPr lang="zh-CN" altLang="en-US" sz="125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、风险确认、时间线沉淀与二级控制台，形成可安装、可演示、可继续迭代的智能体作品。</a:t>
            </a:r>
            <a:endParaRPr lang="zh-CN" altLang="en-US" sz="125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493000" y="2159000"/>
            <a:ext cx="2006600" cy="11176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7442200" y="2082800"/>
            <a:ext cx="2006600" cy="1117600"/>
          </a:xfrm>
          <a:prstGeom prst="roundRect">
            <a:avLst/>
          </a:prstGeom>
          <a:solidFill>
            <a:srgbClr val="DFF8ED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645400" y="2336800"/>
            <a:ext cx="381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01</a:t>
            </a:r>
            <a:endParaRPr lang="en-US" altLang="en-US" sz="1600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229600" y="2311400"/>
            <a:ext cx="965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输入碎片</a:t>
            </a:r>
            <a:endParaRPr lang="zh-CN" altLang="en-US" sz="15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45400" y="2692400"/>
            <a:ext cx="14986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截图</a:t>
            </a:r>
            <a:r>
              <a:rPr lang="en-US" altLang="zh-CN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文本</a:t>
            </a:r>
            <a:r>
              <a:rPr lang="en-US" altLang="zh-CN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语音</a:t>
            </a:r>
            <a:endParaRPr lang="zh-CN" altLang="en-US" sz="95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753600" y="2159000"/>
            <a:ext cx="2006600" cy="11176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9702800" y="2082800"/>
            <a:ext cx="2006600" cy="1117600"/>
          </a:xfrm>
          <a:prstGeom prst="roundRect">
            <a:avLst/>
          </a:prstGeom>
          <a:solidFill>
            <a:srgbClr val="FFF1C9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9906000" y="2336800"/>
            <a:ext cx="381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02</a:t>
            </a:r>
            <a:endParaRPr lang="en-US" altLang="en-US" sz="1600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490200" y="2311400"/>
            <a:ext cx="965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智能降噪</a:t>
            </a:r>
            <a:endParaRPr lang="zh-CN" altLang="en-US" sz="15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906000" y="2692400"/>
            <a:ext cx="14986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vivo API / OCR</a:t>
            </a:r>
            <a:endParaRPr lang="en-US" altLang="en-US" sz="95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493000" y="3556000"/>
            <a:ext cx="2006600" cy="11176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圆角矩形 31"/>
          <p:cNvSpPr/>
          <p:nvPr/>
        </p:nvSpPr>
        <p:spPr>
          <a:xfrm>
            <a:off x="7442200" y="3479800"/>
            <a:ext cx="2006600" cy="1117600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645400" y="3733800"/>
            <a:ext cx="381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03</a:t>
            </a:r>
            <a:endParaRPr lang="en-US" altLang="en-US" sz="1600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229600" y="3708400"/>
            <a:ext cx="965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确认授权</a:t>
            </a:r>
            <a:endParaRPr lang="zh-CN" altLang="en-US" sz="15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645400" y="4089400"/>
            <a:ext cx="14986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HITL </a:t>
            </a:r>
            <a:r>
              <a:rPr lang="zh-CN" altLang="en-US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风险确认</a:t>
            </a:r>
            <a:endParaRPr lang="zh-CN" altLang="en-US" sz="95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753600" y="3556000"/>
            <a:ext cx="2006600" cy="11176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9702800" y="3479800"/>
            <a:ext cx="20066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906000" y="3733800"/>
            <a:ext cx="381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04</a:t>
            </a:r>
            <a:endParaRPr lang="en-US" altLang="en-US" sz="1600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490200" y="3708400"/>
            <a:ext cx="965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时间资产</a:t>
            </a:r>
            <a:endParaRPr lang="zh-CN" altLang="en-US" sz="15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906000" y="4089400"/>
            <a:ext cx="14986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时间线</a:t>
            </a:r>
            <a:r>
              <a:rPr lang="en-US" altLang="zh-CN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9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提醒</a:t>
            </a:r>
            <a:endParaRPr lang="zh-CN" altLang="en-US" sz="95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7772400" y="1498600"/>
            <a:ext cx="76200" cy="76200"/>
          </a:xfrm>
          <a:prstGeom prst="ellipse">
            <a:avLst/>
          </a:prstGeom>
          <a:solidFill>
            <a:srgbClr val="FFE8A8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509000" y="1778000"/>
            <a:ext cx="50800" cy="50800"/>
          </a:xfrm>
          <a:prstGeom prst="ellipse">
            <a:avLst/>
          </a:prstGeom>
          <a:solidFill>
            <a:srgbClr val="BFEFDF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9448800" y="1447800"/>
            <a:ext cx="88900" cy="88900"/>
          </a:xfrm>
          <a:prstGeom prst="ellipse">
            <a:avLst/>
          </a:prstGeom>
          <a:solidFill>
            <a:srgbClr val="FFE8A8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10439400" y="1879600"/>
            <a:ext cx="50800" cy="50800"/>
          </a:xfrm>
          <a:prstGeom prst="ellipse">
            <a:avLst/>
          </a:prstGeom>
          <a:solidFill>
            <a:srgbClr val="FADAD6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11379200" y="1600200"/>
            <a:ext cx="76200" cy="76200"/>
          </a:xfrm>
          <a:prstGeom prst="ellipse">
            <a:avLst/>
          </a:prstGeom>
          <a:solidFill>
            <a:srgbClr val="BFEFDF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559800" y="6324600"/>
            <a:ext cx="2921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zh-CN" altLang="en-US" sz="14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团队成员：严尚斌、孙贺然、吴如山</a:t>
            </a:r>
            <a:endParaRPr lang="en-US" altLang="zh-CN" sz="14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9652000" y="-1016000"/>
            <a:ext cx="3048000" cy="3048000"/>
          </a:xfrm>
          <a:prstGeom prst="ellipse">
            <a:avLst/>
          </a:prstGeom>
          <a:solidFill>
            <a:srgbClr val="DFF8ED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-1016000" y="5867400"/>
            <a:ext cx="2159000" cy="2159000"/>
          </a:xfrm>
          <a:prstGeom prst="ellipse">
            <a:avLst/>
          </a:prstGeom>
          <a:solidFill>
            <a:srgbClr val="FFF1C9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572000" y="6350000"/>
            <a:ext cx="2413000" cy="889000"/>
          </a:xfrm>
          <a:prstGeom prst="ellipse">
            <a:avLst/>
          </a:prstGeom>
          <a:solidFill>
            <a:srgbClr val="FFF3DF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35000" y="533400"/>
            <a:ext cx="127000" cy="127000"/>
          </a:xfrm>
          <a:prstGeom prst="ellipse">
            <a:avLst/>
          </a:prstGeom>
          <a:solidFill>
            <a:srgbClr val="003F33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63600" y="457200"/>
            <a:ext cx="1524000" cy="191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50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en-US" altLang="en-US" sz="1250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01400" y="457200"/>
            <a:ext cx="508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400" b="1">
                <a:solidFill>
                  <a:srgbClr val="5E625F"/>
                </a:solidFill>
                <a:latin typeface="Consolas" panose="020B0609020204030204" charset="0"/>
                <a:cs typeface="Consolas" panose="020B0609020204030204" charset="0"/>
              </a:rPr>
              <a:t>02</a:t>
            </a:r>
            <a:endParaRPr lang="en-US" altLang="en-US" sz="1400" b="1">
              <a:solidFill>
                <a:srgbClr val="5E62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1200" y="889000"/>
            <a:ext cx="8636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4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</a:rPr>
              <a:t>目录：从产品定位到工程验证，按答辩叙事展开。</a:t>
            </a:r>
            <a:endParaRPr lang="zh-CN" altLang="en-US" sz="24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6600" y="1625600"/>
            <a:ext cx="7874000" cy="191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本页将进度汇报拆成五个部分，既展示</a:t>
            </a:r>
            <a:r>
              <a:rPr lang="en-US" altLang="zh-CN" sz="12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UI </a:t>
            </a:r>
            <a:r>
              <a:rPr lang="zh-CN" altLang="en-US" sz="125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设计，也说明真实功能链路、二级功能和测试状态。</a:t>
            </a:r>
            <a:endParaRPr lang="zh-CN" altLang="en-US" sz="125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2800" y="2362200"/>
            <a:ext cx="4699000" cy="8382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762000" y="2286000"/>
            <a:ext cx="4699000" cy="838200"/>
          </a:xfrm>
          <a:prstGeom prst="roundRect">
            <a:avLst/>
          </a:prstGeom>
          <a:solidFill>
            <a:srgbClr val="FFF1C9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65200" y="24638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01</a:t>
            </a:r>
            <a:endParaRPr lang="en-US" altLang="en-US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76400" y="2413000"/>
            <a:ext cx="353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作品定位与当前成果</a:t>
            </a:r>
            <a:endParaRPr lang="zh-CN" altLang="en-US" sz="16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76400" y="2743200"/>
            <a:ext cx="3530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说明《织时》已具备可安装、可运行、可验证的作品形态。</a:t>
            </a:r>
            <a:endParaRPr lang="zh-CN" altLang="en-US" sz="100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2800" y="3327400"/>
            <a:ext cx="4699000" cy="8382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62000" y="3251200"/>
            <a:ext cx="4699000" cy="838200"/>
          </a:xfrm>
          <a:prstGeom prst="roundRect">
            <a:avLst/>
          </a:prstGeom>
          <a:solidFill>
            <a:srgbClr val="DFF8ED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65200" y="34290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02</a:t>
            </a:r>
            <a:endParaRPr lang="en-US" altLang="en-US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76400" y="3378200"/>
            <a:ext cx="353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核心功能链路</a:t>
            </a:r>
            <a:endParaRPr lang="zh-CN" altLang="en-US" sz="16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0" y="3708400"/>
            <a:ext cx="3530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多源导入、</a:t>
            </a:r>
            <a:r>
              <a:rPr lang="en-US" altLang="zh-CN" sz="100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vivo API </a:t>
            </a:r>
            <a:r>
              <a:rPr lang="zh-CN" altLang="en-US" sz="100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解析、风险策略、人在回路、时间线沉淀构成主闭环。</a:t>
            </a:r>
            <a:endParaRPr lang="zh-CN" altLang="en-US" sz="100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12800" y="4292600"/>
            <a:ext cx="4699000" cy="8382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762000" y="4216400"/>
            <a:ext cx="4699000" cy="838200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65200" y="43942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03</a:t>
            </a:r>
            <a:endParaRPr lang="en-US" altLang="en-US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76400" y="4343400"/>
            <a:ext cx="353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首页</a:t>
            </a:r>
            <a:r>
              <a:rPr lang="en-US" altLang="zh-CN" sz="16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时间线</a:t>
            </a:r>
            <a:r>
              <a:rPr lang="en-US" altLang="zh-CN" sz="16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我的页设计</a:t>
            </a:r>
            <a:endParaRPr lang="zh-CN" altLang="en-US" sz="16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676400" y="4673600"/>
            <a:ext cx="3530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展示</a:t>
            </a:r>
            <a:r>
              <a:rPr lang="en-US" altLang="zh-CN" sz="100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Today-First </a:t>
            </a:r>
            <a:r>
              <a:rPr lang="zh-CN" altLang="en-US" sz="100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首页、艺术化时间线、数字福祉和个人资料控制台。</a:t>
            </a:r>
            <a:endParaRPr lang="zh-CN" altLang="en-US" sz="100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27800" y="2870200"/>
            <a:ext cx="4953000" cy="8382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6477000" y="2794000"/>
            <a:ext cx="4953000" cy="838200"/>
          </a:xfrm>
          <a:prstGeom prst="roundRect">
            <a:avLst/>
          </a:prstGeom>
          <a:solidFill>
            <a:srgbClr val="DFF8ED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680200" y="29718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04</a:t>
            </a:r>
            <a:endParaRPr lang="en-US" altLang="en-US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391400" y="2921000"/>
            <a:ext cx="3784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智能体中心与二级功能</a:t>
            </a:r>
            <a:endParaRPr lang="zh-CN" altLang="en-US" sz="16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391400" y="3251200"/>
            <a:ext cx="3784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低频能力统一收纳，覆盖体检、历史、画像、偏好、隐私、数据和运行状态。</a:t>
            </a:r>
            <a:endParaRPr lang="zh-CN" altLang="en-US" sz="100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527800" y="3835400"/>
            <a:ext cx="4953000" cy="8382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6477000" y="3759200"/>
            <a:ext cx="4953000" cy="838200"/>
          </a:xfrm>
          <a:prstGeom prst="roundRect">
            <a:avLst/>
          </a:prstGeom>
          <a:solidFill>
            <a:srgbClr val="FFF1C9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680200" y="39370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05</a:t>
            </a:r>
            <a:endParaRPr lang="en-US" altLang="en-US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391400" y="3886200"/>
            <a:ext cx="3784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工程验证与下一步</a:t>
            </a:r>
            <a:endParaRPr lang="zh-CN" altLang="en-US" sz="160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391400" y="4216400"/>
            <a:ext cx="3784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说明构建、安装、自动化测试、模拟器验证和后续答辩素材规划。</a:t>
            </a:r>
            <a:endParaRPr lang="zh-CN" altLang="en-US" sz="100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6000" y="5867400"/>
            <a:ext cx="1879600" cy="6604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965200" y="5791200"/>
            <a:ext cx="1879600" cy="660400"/>
          </a:xfrm>
          <a:prstGeom prst="roundRect">
            <a:avLst/>
          </a:prstGeom>
          <a:solidFill>
            <a:srgbClr val="FFF1C9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117600" y="5943600"/>
            <a:ext cx="609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03</a:t>
            </a:r>
            <a:endParaRPr lang="en-US" altLang="en-US" sz="1500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701800" y="5969000"/>
            <a:ext cx="990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成果总览</a:t>
            </a:r>
            <a:endParaRPr lang="zh-CN" altLang="en-US" sz="105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022600" y="5867400"/>
            <a:ext cx="1879600" cy="6604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2971800" y="5791200"/>
            <a:ext cx="1879600" cy="660400"/>
          </a:xfrm>
          <a:prstGeom prst="roundRect">
            <a:avLst/>
          </a:prstGeom>
          <a:solidFill>
            <a:srgbClr val="DFF8ED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3124200" y="5943600"/>
            <a:ext cx="609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04</a:t>
            </a:r>
            <a:endParaRPr lang="en-US" altLang="en-US" sz="1500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708400" y="5969000"/>
            <a:ext cx="990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当前结果</a:t>
            </a:r>
            <a:endParaRPr lang="zh-CN" altLang="en-US" sz="105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029200" y="5867400"/>
            <a:ext cx="1879600" cy="6604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4978400" y="5791200"/>
            <a:ext cx="1879600" cy="660400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5130800" y="5943600"/>
            <a:ext cx="609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05</a:t>
            </a:r>
            <a:endParaRPr lang="en-US" altLang="en-US" sz="1500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715000" y="5969000"/>
            <a:ext cx="990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链路闭环</a:t>
            </a:r>
            <a:endParaRPr lang="zh-CN" altLang="en-US" sz="105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035800" y="5867400"/>
            <a:ext cx="1879600" cy="6604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6985000" y="5791200"/>
            <a:ext cx="1879600" cy="660400"/>
          </a:xfrm>
          <a:prstGeom prst="roundRect">
            <a:avLst/>
          </a:prstGeom>
          <a:solidFill>
            <a:srgbClr val="DFF8ED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7137400" y="5943600"/>
            <a:ext cx="609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06–12</a:t>
            </a:r>
            <a:endParaRPr lang="en-US" altLang="en-US" sz="1500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721600" y="5969000"/>
            <a:ext cx="990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界面与功能</a:t>
            </a:r>
            <a:endParaRPr lang="zh-CN" altLang="en-US" sz="105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042400" y="5867400"/>
            <a:ext cx="1879600" cy="660400"/>
          </a:xfrm>
          <a:prstGeom prst="rect">
            <a:avLst/>
          </a:prstGeom>
          <a:solidFill>
            <a:srgbClr val="F1E6D3">
              <a:alpha val="82000"/>
            </a:srgbClr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圆角矩形 51"/>
          <p:cNvSpPr/>
          <p:nvPr/>
        </p:nvSpPr>
        <p:spPr>
          <a:xfrm>
            <a:off x="8991600" y="5791200"/>
            <a:ext cx="1879600" cy="660400"/>
          </a:xfrm>
          <a:prstGeom prst="roundRect">
            <a:avLst/>
          </a:prstGeom>
          <a:solidFill>
            <a:srgbClr val="FFF1C9"/>
          </a:solidFill>
          <a:ln w="10160">
            <a:solidFill>
              <a:srgbClr val="E9DED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9144000" y="5943600"/>
            <a:ext cx="609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 b="1">
                <a:solidFill>
                  <a:srgbClr val="003F33"/>
                </a:solidFill>
                <a:latin typeface="Consolas" panose="020B0609020204030204" charset="0"/>
                <a:cs typeface="Consolas" panose="020B0609020204030204" charset="0"/>
              </a:rPr>
              <a:t>13–14</a:t>
            </a:r>
            <a:endParaRPr lang="en-US" altLang="en-US" sz="1500" b="1">
              <a:solidFill>
                <a:srgbClr val="003F3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728200" y="5969000"/>
            <a:ext cx="990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</a:rPr>
              <a:t>验证与计划</a:t>
            </a:r>
            <a:endParaRPr lang="zh-CN" altLang="en-US" sz="105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666750"/>
            <a:ext cx="209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9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织时</a:t>
            </a:r>
            <a:endParaRPr sz="39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390650"/>
            <a:ext cx="647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将校园信息碎片整合为专属时间线的智能助手</a:t>
            </a:r>
            <a:endParaRPr sz="1650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828800"/>
            <a:ext cx="628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阶段进度汇报｜Android 客户端真实运行版｜2026-05-19</a:t>
            </a:r>
            <a:endParaRPr sz="112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2667000"/>
            <a:ext cx="2190750" cy="10668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2571750"/>
            <a:ext cx="2190750" cy="1066800"/>
          </a:xfrm>
          <a:prstGeom prst="rect">
            <a:avLst/>
          </a:prstGeom>
          <a:solidFill>
            <a:srgbClr val="DFF8ED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762250"/>
            <a:ext cx="1771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6/6</a:t>
            </a:r>
            <a:endParaRPr sz="240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3162300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核心模块就绪</a:t>
            </a:r>
            <a:endParaRPr sz="1125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3409950"/>
            <a:ext cx="1771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登录、首页、时间线、我的、中心、状态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19450" y="2667000"/>
            <a:ext cx="2190750" cy="10668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143250" y="2571750"/>
            <a:ext cx="2190750" cy="106680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52800" y="2762250"/>
            <a:ext cx="1771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Real</a:t>
            </a:r>
            <a:endParaRPr sz="240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52800" y="3162300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vivo API 链路</a:t>
            </a:r>
            <a:endParaRPr sz="1125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52800" y="3409950"/>
            <a:ext cx="1771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模型 / OCR / 风控 / 确认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695950" y="2667000"/>
            <a:ext cx="2190750" cy="10668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619750" y="2571750"/>
            <a:ext cx="2190750" cy="1066800"/>
          </a:xfrm>
          <a:prstGeom prst="rect">
            <a:avLst/>
          </a:prstGeom>
          <a:solidFill>
            <a:srgbClr val="FFF0EE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829300" y="2762250"/>
            <a:ext cx="1771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Pass</a:t>
            </a:r>
            <a:endParaRPr sz="240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829300" y="3162300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构建与仪器测试</a:t>
            </a:r>
            <a:endParaRPr sz="1125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829300" y="3409950"/>
            <a:ext cx="1771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assembleDebug + connectedTest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62950" y="628650"/>
            <a:ext cx="3048000" cy="16954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286750" y="533400"/>
            <a:ext cx="3048000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950" y="744093"/>
            <a:ext cx="2895600" cy="1274064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8362950" y="2552700"/>
            <a:ext cx="3048000" cy="1581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286750" y="2457450"/>
            <a:ext cx="304800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015" y="2533650"/>
            <a:ext cx="2801471" cy="142875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8362950" y="4362450"/>
            <a:ext cx="3048000" cy="18669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286750" y="4267200"/>
            <a:ext cx="30480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005" y="4343400"/>
            <a:ext cx="1749490" cy="1714500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666750" y="5810250"/>
            <a:ext cx="6858000" cy="323850"/>
          </a:xfrm>
          <a:prstGeom prst="rect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00100" y="5876925"/>
            <a:ext cx="6591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 UI 原型推进到可安装、可验证、可持续迭代的校园智能体</a:t>
            </a:r>
            <a:endParaRPr sz="9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CURRENT RESULT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02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当前版本已经不是静态 Demo，而是一套真实闭环。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8115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进度重点不再是“卡片好看”，而是登录、输入、模型解析、风险确认、时间线沉淀、提醒与二级控制台能串起来。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2286000"/>
            <a:ext cx="2381250" cy="10668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2190750"/>
            <a:ext cx="2381250" cy="106680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381250"/>
            <a:ext cx="196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1985</a:t>
            </a:r>
            <a:endParaRPr sz="240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2781300"/>
            <a:ext cx="196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测试账号</a:t>
            </a:r>
            <a:endParaRPr sz="1125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30289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密码 12345678，可进入主流程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267075" y="2286000"/>
            <a:ext cx="2381250" cy="10668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190875" y="2190750"/>
            <a:ext cx="2381250" cy="1066800"/>
          </a:xfrm>
          <a:prstGeom prst="rect">
            <a:avLst/>
          </a:prstGeom>
          <a:solidFill>
            <a:srgbClr val="DFF8ED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00425" y="2381250"/>
            <a:ext cx="196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240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00425" y="2781300"/>
            <a:ext cx="196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已沉淀时间资产</a:t>
            </a:r>
            <a:endParaRPr sz="1125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400425" y="30289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时间线页可回看与导出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86450" y="2286000"/>
            <a:ext cx="2381250" cy="10668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810250" y="2190750"/>
            <a:ext cx="2381250" cy="106680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019800" y="2381250"/>
            <a:ext cx="196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240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19800" y="2781300"/>
            <a:ext cx="196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本地提醒守护</a:t>
            </a:r>
            <a:endParaRPr sz="1125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19800" y="30289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我的页与状态页均可见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05825" y="2286000"/>
            <a:ext cx="2381250" cy="10668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429625" y="2190750"/>
            <a:ext cx="2381250" cy="1066800"/>
          </a:xfrm>
          <a:prstGeom prst="rect">
            <a:avLst/>
          </a:prstGeom>
          <a:solidFill>
            <a:srgbClr val="FFF0EE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639175" y="2381250"/>
            <a:ext cx="196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88</a:t>
            </a:r>
            <a:endParaRPr sz="240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39175" y="2781300"/>
            <a:ext cx="196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智能体体检分</a:t>
            </a:r>
            <a:endParaRPr sz="1125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639175" y="30289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可进入问题处理链路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762000" y="3905250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71550" y="3857625"/>
            <a:ext cx="4267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真实接入 vivo 大模型与 OCR 链路，未回退到 mock 或纯演示模式。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762000" y="4476750"/>
            <a:ext cx="95250" cy="9525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71550" y="4429125"/>
            <a:ext cx="4267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我的页完成信息架构降噪：低频功能被收纳到智能体中心和二级页。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6191250" y="3905250"/>
            <a:ext cx="95250" cy="95250"/>
          </a:xfrm>
          <a:prstGeom prst="ellipse">
            <a:avLst/>
          </a:prstGeom>
          <a:solidFill>
            <a:srgbClr val="FFF0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400800" y="3857625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运行状态页可读取模型、OCR、DataStore、提醒调度和动效负载状态。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6191250" y="4476750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400800" y="4429125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模拟器已重新安装运行，自动化测试覆盖主要页面跳转与二级交互。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FULL CHAIN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03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功能链路按“碎片进入 → 人在回路 → 时间资产”组织。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8115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这条链路是答辩叙事的主轴：让评委看到产品不是单点识别，而是可执行、可追踪、可回看的系统。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2438400"/>
            <a:ext cx="1477736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14350" y="2343150"/>
            <a:ext cx="1477736" cy="81915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7700" y="2495550"/>
            <a:ext cx="1211036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登录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2771775"/>
            <a:ext cx="121103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账号与画像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011136" y="25908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01636" y="2438400"/>
            <a:ext cx="1477736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125436" y="2343150"/>
            <a:ext cx="1477736" cy="819150"/>
          </a:xfrm>
          <a:prstGeom prst="rect">
            <a:avLst/>
          </a:prstGeom>
          <a:solidFill>
            <a:srgbClr val="DFF8ED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258786" y="2495550"/>
            <a:ext cx="1211036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多源导入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58786" y="2771775"/>
            <a:ext cx="121103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拍照/相册/粘贴/语音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22221" y="25908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812721" y="2438400"/>
            <a:ext cx="1477736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736521" y="2343150"/>
            <a:ext cx="1477736" cy="819150"/>
          </a:xfrm>
          <a:prstGeom prst="rect">
            <a:avLst/>
          </a:prstGeom>
          <a:solidFill>
            <a:srgbClr val="FFF0EE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869871" y="2495550"/>
            <a:ext cx="1211036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模型解析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869871" y="2771775"/>
            <a:ext cx="121103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vivo API + OCR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33307" y="25908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423807" y="2438400"/>
            <a:ext cx="1477736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347607" y="2343150"/>
            <a:ext cx="1477736" cy="81915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480957" y="2495550"/>
            <a:ext cx="1211036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风险策略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480957" y="2771775"/>
            <a:ext cx="121103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字段与置信度校验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44393" y="25908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034893" y="2438400"/>
            <a:ext cx="1477736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958693" y="2343150"/>
            <a:ext cx="1477736" cy="819150"/>
          </a:xfrm>
          <a:prstGeom prst="rect">
            <a:avLst/>
          </a:prstGeom>
          <a:solidFill>
            <a:srgbClr val="DFF8ED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092043" y="2495550"/>
            <a:ext cx="1211036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校验确认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092043" y="2771775"/>
            <a:ext cx="121103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HITL 人在回路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455479" y="25908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645979" y="2438400"/>
            <a:ext cx="1477736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569779" y="2343150"/>
            <a:ext cx="1477736" cy="819150"/>
          </a:xfrm>
          <a:prstGeom prst="rect">
            <a:avLst/>
          </a:prstGeom>
          <a:solidFill>
            <a:srgbClr val="FFF0EE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703129" y="2495550"/>
            <a:ext cx="1211036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时间线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703129" y="2771775"/>
            <a:ext cx="121103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资产沉淀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066564" y="259080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257064" y="2438400"/>
            <a:ext cx="1477736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0180864" y="2343150"/>
            <a:ext cx="1477736" cy="81915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314214" y="2495550"/>
            <a:ext cx="1211036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提醒调度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314214" y="2771775"/>
            <a:ext cx="121103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系统守护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38200" y="3810000"/>
            <a:ext cx="4953000" cy="18097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62000" y="3714750"/>
            <a:ext cx="4953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47750" y="400050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工程侧闭环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8" name="椭圆 47"/>
          <p:cNvSpPr>
            <a:spLocks noGrp="1"/>
          </p:cNvSpPr>
          <p:nvPr/>
        </p:nvSpPr>
        <p:spPr>
          <a:xfrm>
            <a:off x="1047750" y="448627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257300" y="4438650"/>
            <a:ext cx="3886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CampusNoticeInput 统一输入形态，屏蔽相机、文本、分享等来源差异。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1047750" y="5000625"/>
            <a:ext cx="95250" cy="9525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257300" y="4953000"/>
            <a:ext cx="3886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RiskPolicyEngine 在执行前介入，避免大模型越权写入。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553200" y="3810000"/>
            <a:ext cx="4953000" cy="18097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477000" y="3714750"/>
            <a:ext cx="4953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762750" y="400050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产品侧闭环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>
            <a:off x="6762750" y="4486275"/>
            <a:ext cx="95250" cy="95250"/>
          </a:xfrm>
          <a:prstGeom prst="ellipse">
            <a:avLst/>
          </a:prstGeom>
          <a:solidFill>
            <a:srgbClr val="FFF0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972300" y="4438650"/>
            <a:ext cx="3886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首页只做输入与当前任务，时间线负责沉淀，我的页负责控制边界。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6762750" y="500062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6972300" y="4953000"/>
            <a:ext cx="3886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二级页承接低频能力，减少第一屏认知噪声。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HOME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04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首页继续坚持 Today-First：第一屏只问用户“要整理哪条通知”。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8115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拍照入口已从大方框收敛为图标化按钮，输入、粘贴、语音和相册保持同一视觉层级。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2095500"/>
            <a:ext cx="3429000" cy="15240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2000250"/>
            <a:ext cx="34290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364" y="2076450"/>
            <a:ext cx="3117273" cy="13716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4400550" y="1905000"/>
            <a:ext cx="3429000" cy="39052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324350" y="1809750"/>
            <a:ext cx="34290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086" y="1885950"/>
            <a:ext cx="3101529" cy="37528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8134350" y="2286000"/>
            <a:ext cx="3048000" cy="24765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58150" y="2190750"/>
            <a:ext cx="30480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350" y="2560320"/>
            <a:ext cx="2895600" cy="1737360"/>
          </a:xfrm>
          <a:prstGeom prst="rect">
            <a:avLst/>
          </a:prstGeom>
        </p:spPr>
      </p:pic>
      <p:sp>
        <p:nvSpPr>
          <p:cNvPr id="20" name="椭圆 19"/>
          <p:cNvSpPr>
            <a:spLocks noGrp="1"/>
          </p:cNvSpPr>
          <p:nvPr/>
        </p:nvSpPr>
        <p:spPr>
          <a:xfrm>
            <a:off x="666750" y="585787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5810250"/>
            <a:ext cx="3124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顶部数字卡让用户立即知道今日安排、待确认和提醒状态。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4381500" y="5857875"/>
            <a:ext cx="95250" cy="9525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591050" y="5810250"/>
            <a:ext cx="3124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中部输入舱把拍照、粘贴、相册、语音统一成“丢给智能体”。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8096250" y="5857875"/>
            <a:ext cx="95250" cy="95250"/>
          </a:xfrm>
          <a:prstGeom prst="ellipse">
            <a:avLst/>
          </a:prstGeom>
          <a:solidFill>
            <a:srgbClr val="FFF0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305800" y="581025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底部操作区保留高频入口，避免首页回到说明面板。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REVIEW / HITL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05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模型不直接越权执行，关键动作经过校验与确认。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8115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当前设计保留“白盒化字段 + 风险策略 + 用户授权”的边界，适合解释大模型幻觉风险如何被工程化约束。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190750"/>
            <a:ext cx="3143250" cy="29527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2095500"/>
            <a:ext cx="3143250" cy="295275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95350" y="234315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45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345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3048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结构化字段</a:t>
            </a:r>
            <a:endParaRPr sz="16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5350" y="3543300"/>
            <a:ext cx="238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标题、时间、地点、来源、置信度被拆成可检查字段，避免黑盒答案直接落地。</a:t>
            </a:r>
            <a:endParaRPr sz="112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00575" y="2190750"/>
            <a:ext cx="3143250" cy="29527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24375" y="2095500"/>
            <a:ext cx="3143250" cy="2952750"/>
          </a:xfrm>
          <a:prstGeom prst="rect">
            <a:avLst/>
          </a:prstGeom>
          <a:solidFill>
            <a:srgbClr val="DFF8ED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752975" y="234315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45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345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52975" y="3048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风险策略</a:t>
            </a:r>
            <a:endParaRPr sz="16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52975" y="3543300"/>
            <a:ext cx="238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高风险动作、低置信度字段和缺失地点不会直接执行，而是进入待确认池。</a:t>
            </a:r>
            <a:endParaRPr sz="112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458200" y="2190750"/>
            <a:ext cx="3143250" cy="29527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382000" y="2095500"/>
            <a:ext cx="3143250" cy="2952750"/>
          </a:xfrm>
          <a:prstGeom prst="rect">
            <a:avLst/>
          </a:prstGeom>
          <a:solidFill>
            <a:srgbClr val="FFF0EE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610600" y="234315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45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345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610600" y="3048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人在回路</a:t>
            </a:r>
            <a:endParaRPr sz="16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10600" y="3543300"/>
            <a:ext cx="238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用户确认后才写入系统日历与时间线，保证智能体服务用户，而不是替用户做决定。</a:t>
            </a:r>
            <a:endParaRPr sz="112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076450" y="5381625"/>
            <a:ext cx="8191500" cy="10287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000250" y="5286375"/>
            <a:ext cx="81915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t="44439" b="44439"/>
          <a:stretch>
            <a:fillRect/>
          </a:stretch>
        </p:blipFill>
        <p:spPr>
          <a:xfrm>
            <a:off x="2076450" y="5362575"/>
            <a:ext cx="80391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TIMELINE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06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时间线页把碎片沉淀为“可回看资产”。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33858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日历入口默认收纳，主视觉留给艺术化曲线时间线，最近安排沿线展开，减少传统日历网格的压迫感。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2047875"/>
            <a:ext cx="3524250" cy="17145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1952625"/>
            <a:ext cx="3524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154" y="2028825"/>
            <a:ext cx="3062941" cy="15621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4505325" y="1714500"/>
            <a:ext cx="3714750" cy="40957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29125" y="1619250"/>
            <a:ext cx="371475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25" y="1957197"/>
            <a:ext cx="3562350" cy="3419856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8553450" y="2524125"/>
            <a:ext cx="2857500" cy="23812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77250" y="2428875"/>
            <a:ext cx="2857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50" y="2753868"/>
            <a:ext cx="2705100" cy="1731264"/>
          </a:xfrm>
          <a:prstGeom prst="rect">
            <a:avLst/>
          </a:prstGeom>
        </p:spPr>
      </p:pic>
      <p:sp>
        <p:nvSpPr>
          <p:cNvPr id="20" name="椭圆 19"/>
          <p:cNvSpPr>
            <a:spLocks noGrp="1"/>
          </p:cNvSpPr>
          <p:nvPr/>
        </p:nvSpPr>
        <p:spPr>
          <a:xfrm>
            <a:off x="666750" y="585787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5810250"/>
            <a:ext cx="3124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Hero Card 展示本周织入生活的碎片数量和提醒状态。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4476750" y="5857875"/>
            <a:ext cx="95250" cy="9525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686300" y="5810250"/>
            <a:ext cx="3219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曲线表达“织时”品牌隐喻，线旁保留最近日程小字。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8334375" y="5857875"/>
            <a:ext cx="95250" cy="95250"/>
          </a:xfrm>
          <a:prstGeom prst="ellipse">
            <a:avLst/>
          </a:prstGeom>
          <a:solidFill>
            <a:srgbClr val="FFF0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543925" y="5810250"/>
            <a:ext cx="3028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日历与导出作为入口保留，具体日/周/月沉入二级页。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PROFILE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07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我的页从“设置列表”变成个人资产与控制入口。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8115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头像、昵称、学校、年级、签名等资料可进入二级页维护；第一屏只保留高频入口和数字福祉。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1905000"/>
            <a:ext cx="3429000" cy="18097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1809750"/>
            <a:ext cx="3429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928241"/>
            <a:ext cx="3276600" cy="1572768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4457700" y="1905000"/>
            <a:ext cx="3143250" cy="15240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381500" y="1809750"/>
            <a:ext cx="3143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973580"/>
            <a:ext cx="2990850" cy="119634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934325" y="1714500"/>
            <a:ext cx="3143250" cy="31432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58125" y="1619250"/>
            <a:ext cx="31432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25" y="1859947"/>
            <a:ext cx="2990850" cy="2661857"/>
          </a:xfrm>
          <a:prstGeom prst="rect">
            <a:avLst/>
          </a:prstGeom>
        </p:spPr>
      </p:pic>
      <p:sp>
        <p:nvSpPr>
          <p:cNvPr id="20" name="椭圆 19"/>
          <p:cNvSpPr>
            <a:spLocks noGrp="1"/>
          </p:cNvSpPr>
          <p:nvPr/>
        </p:nvSpPr>
        <p:spPr>
          <a:xfrm>
            <a:off x="666750" y="519112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5143500"/>
            <a:ext cx="3886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个人信息承接头像更换、昵称、学校、专业、年级、生日、个签等资料。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66750" y="5762625"/>
            <a:ext cx="95250" cy="9525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6300" y="5715000"/>
            <a:ext cx="3886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常用入口只保留中心、历史、偏好、通知，减少第一屏堆叠。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5905500" y="5476875"/>
            <a:ext cx="95250" cy="95250"/>
          </a:xfrm>
          <a:prstGeom prst="ellipse">
            <a:avLst/>
          </a:prstGeom>
          <a:solidFill>
            <a:srgbClr val="FFF0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115050" y="5429250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智能体中心卡展示资产、待确认、提醒和策略状态，点击进入完整控制台。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AGENT CENTER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08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智能体中心承接低频能力，形成完整二级功能体系。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39192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功能地图、边界控制、体检、成就、隐私、数据空间、运行状态都在这里，避免我的页变成超长目录。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1905000"/>
            <a:ext cx="3238500" cy="16192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1809750"/>
            <a:ext cx="3238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940433"/>
            <a:ext cx="3086100" cy="1357884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4248150" y="1714500"/>
            <a:ext cx="3333750" cy="28575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171950" y="1619250"/>
            <a:ext cx="3333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092" y="1695450"/>
            <a:ext cx="3145465" cy="270510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934325" y="1666875"/>
            <a:ext cx="3143250" cy="40005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58125" y="1571625"/>
            <a:ext cx="31432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429" y="1647825"/>
            <a:ext cx="2748643" cy="3848100"/>
          </a:xfrm>
          <a:prstGeom prst="rect">
            <a:avLst/>
          </a:prstGeom>
        </p:spPr>
      </p:pic>
      <p:sp>
        <p:nvSpPr>
          <p:cNvPr id="20" name="椭圆 19"/>
          <p:cNvSpPr>
            <a:spLocks noGrp="1"/>
          </p:cNvSpPr>
          <p:nvPr/>
        </p:nvSpPr>
        <p:spPr>
          <a:xfrm>
            <a:off x="666750" y="566737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5619750"/>
            <a:ext cx="3124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能力链路区强调“回看、校验、守护”的三段式能力。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4333875" y="566737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543425" y="5619750"/>
            <a:ext cx="6457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功能地图把一键体检、时间线资产、通知、成就、画像、隐私、数据和运行状态全部接入二级页。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CHECKUP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09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一键体检让智能体能“检查自己”，不是静态控制台。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400175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体检页根据待确认、时间字段、提醒覆盖、安全边界、冲突、消息收纳等真实状态计算健康分，并跳转到对应处理页。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857375"/>
            <a:ext cx="4000500" cy="23812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1762125"/>
            <a:ext cx="4000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838325"/>
            <a:ext cx="3714750" cy="222885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5172075" y="1714500"/>
            <a:ext cx="4000500" cy="40005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095875" y="1619250"/>
            <a:ext cx="40005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35" y="1695450"/>
            <a:ext cx="3154180" cy="384810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9505950" y="2047875"/>
            <a:ext cx="1714500" cy="30480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429750" y="1952625"/>
            <a:ext cx="1714500" cy="3048000"/>
          </a:xfrm>
          <a:prstGeom prst="rect">
            <a:avLst/>
          </a:prstGeom>
          <a:solidFill>
            <a:srgbClr val="003F33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620250" y="2381250"/>
            <a:ext cx="133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4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88</a:t>
            </a:r>
            <a:endParaRPr sz="43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620250" y="31432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1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FFF1C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健康分</a:t>
            </a:r>
            <a:endParaRPr sz="1350" b="1">
              <a:solidFill>
                <a:srgbClr val="FFF1C9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696450" y="3714750"/>
            <a:ext cx="11811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每个体检项都能进入对应二级页，形成发现到处理的闭环。</a:t>
            </a:r>
            <a:endParaRPr sz="975" b="0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62000" y="5905500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71550" y="5857875"/>
            <a:ext cx="4267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体检不是解释文案，而是由真实状态派生的任务清单。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5810250" y="5905500"/>
            <a:ext cx="95250" cy="9525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19800" y="5857875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清单项能继续打开通知、历史、偏好、隐私、时间线资产等页面。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RUNTIME STATUS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10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运行状态页把工程可用性变成可答辩证据。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8115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页面真实读取模型、OCR、DataStore、提醒、账号、相机、语音和动效负载状态，便于现场解释“不是假卡片”。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905000"/>
            <a:ext cx="4095750" cy="28575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1809750"/>
            <a:ext cx="4095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472" y="1885950"/>
            <a:ext cx="2760306" cy="27051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5219700" y="1905000"/>
            <a:ext cx="4095750" cy="28575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143500" y="1809750"/>
            <a:ext cx="4095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492" y="1885950"/>
            <a:ext cx="2877766" cy="270510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9601200" y="2095500"/>
            <a:ext cx="1809750" cy="10668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525000" y="2000250"/>
            <a:ext cx="1809750" cy="1066800"/>
          </a:xfrm>
          <a:prstGeom prst="rect">
            <a:avLst/>
          </a:prstGeom>
          <a:solidFill>
            <a:srgbClr val="DFF8ED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34550" y="2190750"/>
            <a:ext cx="1390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6/6</a:t>
            </a:r>
            <a:endParaRPr sz="240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734550" y="259080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就绪模块</a:t>
            </a:r>
            <a:endParaRPr sz="1125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734550" y="28384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模型、OCR、存储等状态正常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01200" y="3429000"/>
            <a:ext cx="1809750" cy="106680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525000" y="3333750"/>
            <a:ext cx="1809750" cy="106680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34550" y="3524250"/>
            <a:ext cx="1390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3F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Full</a:t>
            </a:r>
            <a:endParaRPr sz="2400" b="1">
              <a:solidFill>
                <a:srgbClr val="003F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34550" y="392430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动效模式</a:t>
            </a:r>
            <a:endParaRPr sz="1125" b="1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34550" y="41719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可切换轻量模式保障演示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42950" y="547687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2500" y="5429250"/>
            <a:ext cx="4743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真实状态面板直接显示 Volc-DeepSeek-V3.2、OCR endpoint 与 DataStore 资产数量。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6191250" y="5476875"/>
            <a:ext cx="95250" cy="95250"/>
          </a:xfrm>
          <a:prstGeom prst="ellipse">
            <a:avLst/>
          </a:prstGeom>
          <a:solidFill>
            <a:srgbClr val="FFF0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400800" y="5429250"/>
            <a:ext cx="4362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轻量模式为模拟器卡顿兜底，真机上可恢复完整动效。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VERIFICATION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11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本轮已经完成构建、安装、启动、截图和主链路验证。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8115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验证重点是“能跑、能进、能点、能跳转”，同时保留模拟器给用户手动验收。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095500"/>
            <a:ext cx="4857750" cy="29527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2000250"/>
            <a:ext cx="4857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2305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自动化验证记录</a:t>
            </a:r>
            <a:endParaRPr sz="16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00125" y="290512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09675" y="2857500"/>
            <a:ext cx="3600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:app:assembleDebug 通过，Debug APK 已生成。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000125" y="3476625"/>
            <a:ext cx="95250" cy="9525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09675" y="3429000"/>
            <a:ext cx="3600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:app:connectedDebugAndroidTest 通过，覆盖登录、首页、时间线、我的页和二级页面链路。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000125" y="4219575"/>
            <a:ext cx="95250" cy="95250"/>
          </a:xfrm>
          <a:prstGeom prst="ellipse">
            <a:avLst/>
          </a:prstGeom>
          <a:solidFill>
            <a:srgbClr val="FFF0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09675" y="4171950"/>
            <a:ext cx="3600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APK 已重新安装到 emulator-5554，并启动到前台。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72200" y="2095500"/>
            <a:ext cx="4953000" cy="29527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96000" y="2000250"/>
            <a:ext cx="49530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381750" y="2305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人工验收入口</a:t>
            </a:r>
            <a:endParaRPr sz="16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429375" y="2905125"/>
            <a:ext cx="95250" cy="9525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638925" y="2857500"/>
            <a:ext cx="3505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测试账号：1985 / 12345678。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429375" y="3476625"/>
            <a:ext cx="95250" cy="9525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638925" y="3429000"/>
            <a:ext cx="3505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Android Studio：E:\Program Files\Android\Android Studio\bin\studio64.exe。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6429375" y="4219575"/>
            <a:ext cx="95250" cy="95250"/>
          </a:xfrm>
          <a:prstGeom prst="ellipse">
            <a:avLst/>
          </a:prstGeom>
          <a:solidFill>
            <a:srgbClr val="FFF0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638925" y="4171950"/>
            <a:ext cx="3505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模拟器：VSA_API34_GOOGLE，设备 emulator-5554。</a:t>
            </a:r>
            <a:endParaRPr sz="97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219450" y="5572125"/>
            <a:ext cx="5810250" cy="323850"/>
          </a:xfrm>
          <a:prstGeom prst="rect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352800" y="5638800"/>
            <a:ext cx="5543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本页内容来自实际构建与模拟器截图，不是概念稿。</a:t>
            </a:r>
            <a:endParaRPr sz="9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858250" y="-1619250"/>
            <a:ext cx="4000500" cy="4000500"/>
          </a:xfrm>
          <a:prstGeom prst="ellipse">
            <a:avLst/>
          </a:prstGeom>
          <a:solidFill>
            <a:srgbClr val="DFF8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428750" y="4762500"/>
            <a:ext cx="3429000" cy="3429000"/>
          </a:xfrm>
          <a:prstGeom prst="ellipse">
            <a:avLst/>
          </a:prstGeom>
          <a:solidFill>
            <a:srgbClr val="FFF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286250" y="6096000"/>
            <a:ext cx="4000500" cy="1524000"/>
          </a:xfrm>
          <a:prstGeom prst="ellipse">
            <a:avLst/>
          </a:prstGeom>
          <a:solidFill>
            <a:srgbClr val="FFF3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19100"/>
            <a:ext cx="95250" cy="95250"/>
          </a:xfrm>
          <a:prstGeom prst="rect">
            <a:avLst/>
          </a:prstGeom>
          <a:solidFill>
            <a:srgbClr val="003F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NEXT</a:t>
            </a:r>
            <a:endParaRPr sz="97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15700" y="3429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12</a:t>
            </a:r>
            <a:endParaRPr sz="1125" b="1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7239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下一步继续做“更完整、更稳、更好讲”的真实作品。</a:t>
            </a:r>
            <a:endParaRPr sz="225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8115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当前版本已经具备决赛展示的主链路，后续优化重点放在真实大模型成功率、低端设备流畅度、二级页深度和答辩演示素材。</a:t>
            </a:r>
            <a:endParaRPr sz="1015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381250"/>
            <a:ext cx="2026920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2286000"/>
            <a:ext cx="2026920" cy="81915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95350" y="2438400"/>
            <a:ext cx="176022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稳定 API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2714625"/>
            <a:ext cx="17602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异常兜底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07970" y="25336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98470" y="2381250"/>
            <a:ext cx="2026920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922270" y="2286000"/>
            <a:ext cx="2026920" cy="819150"/>
          </a:xfrm>
          <a:prstGeom prst="rect">
            <a:avLst/>
          </a:prstGeom>
          <a:solidFill>
            <a:srgbClr val="DFF8ED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055620" y="2438400"/>
            <a:ext cx="176022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丰富二级页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055620" y="2714625"/>
            <a:ext cx="17602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同级卡片统一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68240" y="25336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58740" y="2381250"/>
            <a:ext cx="2026920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082540" y="2286000"/>
            <a:ext cx="2026920" cy="819150"/>
          </a:xfrm>
          <a:prstGeom prst="rect">
            <a:avLst/>
          </a:prstGeom>
          <a:solidFill>
            <a:srgbClr val="FFF0EE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215890" y="2438400"/>
            <a:ext cx="176022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优化流畅度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15890" y="2714625"/>
            <a:ext cx="17602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减少重组与重绘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28510" y="25336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319010" y="2381250"/>
            <a:ext cx="2026920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42810" y="2286000"/>
            <a:ext cx="2026920" cy="819150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376160" y="2438400"/>
            <a:ext cx="176022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补黄金素材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376160" y="2714625"/>
            <a:ext cx="17602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海报/群聊/语音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288780" y="2533650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→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479280" y="2381250"/>
            <a:ext cx="2026920" cy="819150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403080" y="2286000"/>
            <a:ext cx="2026920" cy="819150"/>
          </a:xfrm>
          <a:prstGeom prst="rect">
            <a:avLst/>
          </a:prstGeom>
          <a:solidFill>
            <a:srgbClr val="DFF8ED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36430" y="2438400"/>
            <a:ext cx="176022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答辩脚本</a:t>
            </a:r>
            <a:endParaRPr sz="1125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536430" y="2714625"/>
            <a:ext cx="17602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E62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三秒 A-ha Moment</a:t>
            </a:r>
            <a:endParaRPr sz="750" b="0">
              <a:solidFill>
                <a:srgbClr val="5E62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76325" y="4000500"/>
            <a:ext cx="4476750" cy="1381125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000125" y="3905250"/>
            <a:ext cx="4476750" cy="1381125"/>
          </a:xfrm>
          <a:prstGeom prst="rect">
            <a:avLst/>
          </a:prstGeom>
          <a:solidFill>
            <a:srgbClr val="FFF1C9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238250" y="41433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已完成部分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238250" y="4552950"/>
            <a:ext cx="3714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完整主链路、三栏导航、二级控制台、真实状态页、自动化测试、模拟器运行和本次进度汇报 PPT。</a:t>
            </a:r>
            <a:endParaRPr sz="112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791325" y="4000500"/>
            <a:ext cx="4476750" cy="1381125"/>
          </a:xfrm>
          <a:prstGeom prst="rect">
            <a:avLst/>
          </a:prstGeom>
          <a:solidFill>
            <a:srgbClr val="F1E6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715125" y="3905250"/>
            <a:ext cx="4476750" cy="1381125"/>
          </a:xfrm>
          <a:prstGeom prst="rect">
            <a:avLst/>
          </a:prstGeom>
          <a:solidFill>
            <a:srgbClr val="DFF8ED"/>
          </a:solidFill>
          <a:ln w="9525">
            <a:solidFill>
              <a:srgbClr val="E9DED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953250" y="41433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继续推进部分</a:t>
            </a:r>
            <a:endParaRPr sz="15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953250" y="4552950"/>
            <a:ext cx="3714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2117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真机大模型多样样本测试、日历二级页细节、更多图标交互反馈、性能剖析和答辩素材库。</a:t>
            </a:r>
            <a:endParaRPr sz="1125" b="0">
              <a:solidFill>
                <a:srgbClr val="2117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952750" y="5905500"/>
            <a:ext cx="628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003F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汇报文件：织时_进度汇报_2026-05-19.pptx</a:t>
            </a:r>
            <a:endParaRPr sz="1200" b="1">
              <a:solidFill>
                <a:srgbClr val="003F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3231</Words>
  <Application>WPS 演示</Application>
  <PresentationFormat>Converted Presentation</PresentationFormat>
  <Paragraphs>424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Microsoft YaHei UI</vt:lpstr>
      <vt:lpstr>Consolas</vt:lpstr>
      <vt:lpstr>Consolas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WPS_1645976128</cp:lastModifiedBy>
  <cp:revision>4</cp:revision>
  <dcterms:created xsi:type="dcterms:W3CDTF">2026-05-19T04:18:00Z</dcterms:created>
  <dcterms:modified xsi:type="dcterms:W3CDTF">2026-05-19T09:56:27Z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9064ADB1710640CCB83BA176C35C4D11_12</vt:lpwstr>
  </property>
  <property fmtid="{D5CDD505-2E9C-101B-9397-08002B2CF9AE}" pid="3" name="KSOProductBuildVer">
    <vt:lpwstr>2052-12.1.0.26375</vt:lpwstr>
  </property>
</Properties>
</file>